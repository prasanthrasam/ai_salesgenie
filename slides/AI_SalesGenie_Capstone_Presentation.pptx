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0edf9abd35465d" /><Relationship Type="http://schemas.openxmlformats.org/officeDocument/2006/relationships/extended-properties" Target="/docProps/app.xml" Id="R610a0209b5d642ac" /><Relationship Type="http://schemas.openxmlformats.org/officeDocument/2006/relationships/officeDocument" Target="/ppt/presentation.xml" Id="R487252d30fe143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56b16dc01f4206"/>
  </p:sldMasterIdLst>
  <p:notesMasterIdLst>
    <p:notesMasterId xmlns:r="http://schemas.openxmlformats.org/officeDocument/2006/relationships" r:id="R13b467cbae154be5"/>
  </p:notesMasterIdLst>
  <p:sldIdLst>
    <p:sldId xmlns:r="http://schemas.openxmlformats.org/officeDocument/2006/relationships" id="256" r:id="Rc4b2ecc0689c4315"/>
    <p:sldId xmlns:r="http://schemas.openxmlformats.org/officeDocument/2006/relationships" id="257" r:id="R762eb6d30b2b4f0d"/>
    <p:sldId xmlns:r="http://schemas.openxmlformats.org/officeDocument/2006/relationships" id="258" r:id="R3fb8092ee2414820"/>
    <p:sldId xmlns:r="http://schemas.openxmlformats.org/officeDocument/2006/relationships" id="259" r:id="R14880c1eccc54e4f"/>
    <p:sldId xmlns:r="http://schemas.openxmlformats.org/officeDocument/2006/relationships" id="260" r:id="Rafbe326078f94896"/>
    <p:sldId xmlns:r="http://schemas.openxmlformats.org/officeDocument/2006/relationships" id="261" r:id="Rb82a9d5bce184559"/>
    <p:sldId xmlns:r="http://schemas.openxmlformats.org/officeDocument/2006/relationships" id="262" r:id="R0c1c20d7fdd04890"/>
    <p:sldId xmlns:r="http://schemas.openxmlformats.org/officeDocument/2006/relationships" id="263" r:id="R8adf86e312b84569"/>
    <p:sldId xmlns:r="http://schemas.openxmlformats.org/officeDocument/2006/relationships" id="264" r:id="R5f45e2c9fb7449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a13b3c766641ca" /><Relationship Type="http://schemas.openxmlformats.org/officeDocument/2006/relationships/slideMaster" Target="/ppt/slideMasters/slideMaster1.xml" Id="R0a56b16dc01f4206" /><Relationship Type="http://schemas.openxmlformats.org/officeDocument/2006/relationships/notesMaster" Target="/ppt/notesMasters/notesMaster1.xml" Id="R13b467cbae154be5" /><Relationship Type="http://schemas.openxmlformats.org/officeDocument/2006/relationships/presProps" Target="/ppt/presProps.xml" Id="Rc81707bfcc82494d" /><Relationship Type="http://schemas.openxmlformats.org/officeDocument/2006/relationships/tableStyles" Target="/ppt/tableStyles.xml" Id="Rc04fb07276914297" /><Relationship Type="http://schemas.openxmlformats.org/officeDocument/2006/relationships/slide" Target="/ppt/slides/slide1.xml" Id="Rc4b2ecc0689c4315" /><Relationship Type="http://schemas.openxmlformats.org/officeDocument/2006/relationships/slide" Target="/ppt/slides/slide2.xml" Id="R762eb6d30b2b4f0d" /><Relationship Type="http://schemas.openxmlformats.org/officeDocument/2006/relationships/slide" Target="/ppt/slides/slide3.xml" Id="R3fb8092ee2414820" /><Relationship Type="http://schemas.openxmlformats.org/officeDocument/2006/relationships/slide" Target="/ppt/slides/slide4.xml" Id="R14880c1eccc54e4f" /><Relationship Type="http://schemas.openxmlformats.org/officeDocument/2006/relationships/slide" Target="/ppt/slides/slide5.xml" Id="Rafbe326078f94896" /><Relationship Type="http://schemas.openxmlformats.org/officeDocument/2006/relationships/slide" Target="/ppt/slides/slide6.xml" Id="Rb82a9d5bce184559" /><Relationship Type="http://schemas.openxmlformats.org/officeDocument/2006/relationships/slide" Target="/ppt/slides/slide7.xml" Id="R0c1c20d7fdd04890" /><Relationship Type="http://schemas.openxmlformats.org/officeDocument/2006/relationships/slide" Target="/ppt/slides/slide8.xml" Id="R8adf86e312b84569" /><Relationship Type="http://schemas.openxmlformats.org/officeDocument/2006/relationships/slide" Target="/ppt/slides/slide9.xml" Id="R5f45e2c9fb7449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65d31bee3b4a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773ba680204548" /><Relationship Type="http://schemas.openxmlformats.org/officeDocument/2006/relationships/notesMaster" Target="/ppt/notesMasters/notesMaster1.xml" Id="R3932cc64c7534d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08ca339e93492d" /><Relationship Type="http://schemas.openxmlformats.org/officeDocument/2006/relationships/notesMaster" Target="/ppt/notesMasters/notesMaster1.xml" Id="R2f4062d672514f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94155635194a0d" /><Relationship Type="http://schemas.openxmlformats.org/officeDocument/2006/relationships/notesMaster" Target="/ppt/notesMasters/notesMaster1.xml" Id="R51c303222e374c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3918aa56ec4daa" /><Relationship Type="http://schemas.openxmlformats.org/officeDocument/2006/relationships/notesMaster" Target="/ppt/notesMasters/notesMaster1.xml" Id="Rfaeea26f843746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0b91f51a8a4fe4" /><Relationship Type="http://schemas.openxmlformats.org/officeDocument/2006/relationships/notesMaster" Target="/ppt/notesMasters/notesMaster1.xml" Id="Rc87d1640d01e46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a8247d8d4a423a" /><Relationship Type="http://schemas.openxmlformats.org/officeDocument/2006/relationships/notesMaster" Target="/ppt/notesMasters/notesMaster1.xml" Id="R29ae92cbcecd40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24360710f74bd6" /><Relationship Type="http://schemas.openxmlformats.org/officeDocument/2006/relationships/notesMaster" Target="/ppt/notesMasters/notesMaster1.xml" Id="R9a43e9094dd147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c3301b2eef4540" /><Relationship Type="http://schemas.openxmlformats.org/officeDocument/2006/relationships/notesMaster" Target="/ppt/notesMasters/notesMaster1.xml" Id="Re4277528a2fa46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5f51b89bf54c40" /><Relationship Type="http://schemas.openxmlformats.org/officeDocument/2006/relationships/notesMaster" Target="/ppt/notesMasters/notesMaster1.xml" Id="Ra57b97ff28ed47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Project repository: AI_SalesGenie (local project files)</a:t>
            </a:r>
          </a:p>
          <a:p xmlns:a="http://schemas.openxmlformats.org/drawingml/2006/main">
            <a:r>
              <a:t>- User-provided assignment context and implementation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Business Requirements Document, section 2: Business Context and Problem Statement</a:t>
            </a:r>
          </a:p>
          <a:p xmlns:a="http://schemas.openxmlformats.org/drawingml/2006/main">
            <a:r>
              <a:t>- Product Requirements Document, problem statement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Exported Langflow flows: 01_router_extractor.json, 02_catalog_recommender_followup.json, 03_weekly_summary.json</a:t>
            </a:r>
          </a:p>
          <a:p xmlns:a="http://schemas.openxmlformats.org/drawingml/2006/main">
            <a:r>
              <a:t>- Repository README architecture description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evaluation/evidence/langfuse/04-catalog-guard-output.png</a:t>
            </a:r>
          </a:p>
          <a:p xmlns:a="http://schemas.openxmlformats.org/drawingml/2006/main">
            <a:r>
              <a:t>- Evaluation baseline T1 and catalog guard output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langflow/catalog_guard_component.py</a:t>
            </a:r>
          </a:p>
          <a:p xmlns:a="http://schemas.openxmlformats.org/drawingml/2006/main">
            <a:r>
              <a:t>- PRD functional and non-functional requirements</a:t>
            </a:r>
          </a:p>
          <a:p xmlns:a="http://schemas.openxmlformats.org/drawingml/2006/main">
            <a:r>
              <a:t>- README security and privacy notes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evaluation/evidence/langfuse/06-follow-up-email-output.png</a:t>
            </a:r>
          </a:p>
          <a:p xmlns:a="http://schemas.openxmlformats.org/drawingml/2006/main">
            <a:r>
              <a:t>- Exported flow 02_catalog_recommender_followup.json</a:t>
            </a:r>
          </a:p>
          <a:p xmlns:a="http://schemas.openxmlformats.org/drawingml/2006/main">
            <a:r>
              <a:t>- Extended capability: Automated Follow-Up Drafting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evaluation/BASELINE_RESULTS.md</a:t>
            </a:r>
          </a:p>
          <a:p xmlns:a="http://schemas.openxmlformats.org/drawingml/2006/main">
            <a:r>
              <a:t>- evaluation/evidence/langfuse/01-tracing-overview.png</a:t>
            </a:r>
          </a:p>
          <a:p xmlns:a="http://schemas.openxmlformats.org/drawingml/2006/main">
            <a:r>
              <a:t>- evaluation/evidence/langfuse/02-router-model-usage.png</a:t>
            </a:r>
          </a:p>
          <a:p xmlns:a="http://schemas.openxmlformats.org/drawingml/2006/main">
            <a:r>
              <a:t>- evaluation/evidence/langfuse/05-follow-up-model-usage.png</a:t>
            </a:r>
          </a:p>
          <a:p xmlns:a="http://schemas.openxmlformats.org/drawingml/2006/main">
            <a:r>
              <a:t>- evaluation/evidence/langfuse/07-manual-overall-pass-score.png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Weekly Sales Aggregator output supplied by the user</a:t>
            </a:r>
          </a:p>
          <a:p xmlns:a="http://schemas.openxmlformats.org/drawingml/2006/main">
            <a:r>
              <a:t>- Exported flow 03_weekly_summary.json</a:t>
            </a:r>
          </a:p>
          <a:p xmlns:a="http://schemas.openxmlformats.org/drawingml/2006/main">
            <a:r>
              <a:t>- CRM sample source lead IDs L001–L007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BRD rollout and success criteria</a:t>
            </a:r>
          </a:p>
          <a:p xmlns:a="http://schemas.openxmlformats.org/drawingml/2006/main">
            <a:r>
              <a:t>- PRD roadmap and quality requirements</a:t>
            </a:r>
          </a:p>
          <a:p xmlns:a="http://schemas.openxmlformats.org/drawingml/2006/main">
            <a:r>
              <a:t>- Repository contents and evaluation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52402da5340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eef1b974c442d7" /><Relationship Type="http://schemas.openxmlformats.org/officeDocument/2006/relationships/slideLayout" Target="/ppt/slideLayouts/slideLayout1.xml" Id="R53dd33a326e043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dd33a326e043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7a5ea4f85454b" /><Relationship Type="http://schemas.openxmlformats.org/officeDocument/2006/relationships/notesSlide" Target="/ppt/notesSlides/notesSlide1.xml" Id="R64c0190484ac4b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8f5eb5e9b4686" /><Relationship Type="http://schemas.openxmlformats.org/officeDocument/2006/relationships/notesSlide" Target="/ppt/notesSlides/notesSlide2.xml" Id="R8040e2f8cf984c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1461821af494d" /><Relationship Type="http://schemas.openxmlformats.org/officeDocument/2006/relationships/notesSlide" Target="/ppt/notesSlides/notesSlide3.xml" Id="R4f5da15350c84c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45bbcf84140fb" /><Relationship Type="http://schemas.openxmlformats.org/officeDocument/2006/relationships/image" Target="/ppt/media/image.png" Id="R91757214a42445bd" /><Relationship Type="http://schemas.openxmlformats.org/officeDocument/2006/relationships/notesSlide" Target="/ppt/notesSlides/notesSlide4.xml" Id="Rbb56c39b9ceb4a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27b77ce4e41f9" /><Relationship Type="http://schemas.openxmlformats.org/officeDocument/2006/relationships/notesSlide" Target="/ppt/notesSlides/notesSlide5.xml" Id="Rc02d39527d944a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98e4f0f094a00" /><Relationship Type="http://schemas.openxmlformats.org/officeDocument/2006/relationships/image" Target="/ppt/media/image2.png" Id="R7f4a0435efc6442e" /><Relationship Type="http://schemas.openxmlformats.org/officeDocument/2006/relationships/notesSlide" Target="/ppt/notesSlides/notesSlide6.xml" Id="R6963b9a5d31345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58aa8fdee408d" /><Relationship Type="http://schemas.openxmlformats.org/officeDocument/2006/relationships/image" Target="/ppt/media/image3.png" Id="R4a3194b6d61044e3" /><Relationship Type="http://schemas.openxmlformats.org/officeDocument/2006/relationships/notesSlide" Target="/ppt/notesSlides/notesSlide7.xml" Id="R7b8243eb161349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edbc3ac5f4eeb" /><Relationship Type="http://schemas.openxmlformats.org/officeDocument/2006/relationships/chart" Target="/ppt/slides/charts/chart1.xml" Id="R62a750f38e4445eb" /><Relationship Type="http://schemas.openxmlformats.org/officeDocument/2006/relationships/notesSlide" Target="/ppt/notesSlides/notesSlide8.xml" Id="Rd585e8ec41c646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4ff2ef5594548" /><Relationship Type="http://schemas.openxmlformats.org/officeDocument/2006/relationships/notesSlide" Target="/ppt/notesSlides/notesSlide9.xml" Id="R76858cb7ed074674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Leads</c:v>
          </c:tx>
          <c:dPt>
            <c:idx val="0"/>
            <c:spPr>
              <a:solidFill xmlns:a="http://schemas.openxmlformats.org/drawingml/2006/main">
                <a:srgbClr val="117A65"/>
              </a:solidFill>
            </c:spPr>
          </c:dPt>
          <c:dPt>
            <c:idx val="1"/>
            <c:spPr>
              <a:solidFill xmlns:a="http://schemas.openxmlformats.org/drawingml/2006/main">
                <a:srgbClr val="E3A72F"/>
              </a:solidFill>
            </c:spPr>
          </c:dPt>
          <c:dPt>
            <c:idx val="2"/>
            <c:spPr>
              <a:solidFill xmlns:a="http://schemas.openxmlformats.org/drawingml/2006/main">
                <a:srgbClr val="E76F51"/>
              </a:solidFill>
            </c:spPr>
          </c:dPt>
          <c:cat>
            <c:strLit>
              <c:ptCount val="3"/>
              <c:pt idx="0">
                <c:v>Hot</c:v>
              </c:pt>
              <c:pt idx="1">
                <c:v>Warm</c:v>
              </c:pt>
              <c:pt idx="2">
                <c:v>Cold</c:v>
              </c:pt>
            </c:strLit>
          </c:cat>
          <c:val>
            <c:numLit>
              <c:formatCode>General</c:formatCode>
              <c:ptCount val="3"/>
              <c:pt idx="0">
                <c:v>4</c:v>
              </c:pt>
              <c:pt idx="1">
                <c:v>2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12B"/>
                  </a:solidFill>
                </a:defRPr>
              </a:pPr>
            </a:p>
          </c:txPr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holeSize val="62"/>
      </c:doughnutChart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64748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93BCF-F26A-459B-9A4A-C7CA43A2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F806D-D949-4483-8CF1-253D91F3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238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7AE08-21D7-491C-8245-3152136F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719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7A749-51DB-431C-828F-E9335DA7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ED9C9"/>
                </a:solidFill>
              </a:defRPr>
            </a:pPr>
            <a:r>
              <a:rPr sz="1125" b="1">
                <a:solidFill>
                  <a:srgbClr val="9ED9C9"/>
                </a:solidFill>
              </a:rPr>
              <a:t>CAPSTONE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EC13E-425E-4D43-AA05-1BF8208F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AI SalesGenie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187DC-28A6-423C-8008-B425B43D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7EC"/>
                </a:solidFill>
              </a:defRPr>
            </a:pPr>
            <a:r>
              <a:rPr sz="1875" b="0">
                <a:solidFill>
                  <a:srgbClr val="DCE7EC"/>
                </a:solidFill>
              </a:rPr>
              <a:t>Grounded lead qualification, catalog recommendations, and personalized follow-up drafts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A5486-81BB-4BF3-9C41-22404EF0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572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83A50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51326-E9F9-4140-A1B8-FB26E10A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Built for Oak &amp; Ember Interiors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8327E-721F-4AD6-B6E5-B8226B92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1DB"/>
                </a:solidFill>
              </a:defRPr>
            </a:pPr>
            <a:r>
              <a:rPr sz="1200" b="0">
                <a:solidFill>
                  <a:srgbClr val="BFD1DB"/>
                </a:solidFill>
              </a:rPr>
              <a:t>Langflow • OpenAI • Deterministic catalog guard • Langfuse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53E7D-5202-4BF4-976A-0B83EAF4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4C2"/>
                </a:solidFill>
              </a:defRPr>
            </a:pPr>
            <a:r>
              <a:rPr sz="975" b="1">
                <a:solidFill>
                  <a:srgbClr val="9FB4C2"/>
                </a:solidFill>
              </a:rPr>
              <a:t>Submission deck</a:t>
            </a:r>
          </a:p>
        </p:txBody>
      </p:sp>
    </p:spTree>
    <p:extLst>
      <p:ext uri="{BB962C8B-B14F-4D97-AF65-F5344CB8AC3E}">
        <p14:creationId xmlns:p14="http://schemas.microsoft.com/office/powerpoint/2010/main" val="2099194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37B32A-D0F7-4247-AE4F-AA53553D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7A65"/>
                </a:solidFill>
              </a:defRPr>
            </a:pPr>
            <a:r>
              <a:rPr sz="975" b="1">
                <a:solidFill>
                  <a:srgbClr val="117A65"/>
                </a:solidFill>
              </a:rPr>
              <a:t>BUSINESS NEED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09449-CB28-4D5F-BA48-788B9CAB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63A"/>
                </a:solidFill>
              </a:defRPr>
            </a:pPr>
            <a:r>
              <a:rPr sz="2700" b="1">
                <a:solidFill>
                  <a:srgbClr val="12263A"/>
                </a:solidFill>
              </a:rPr>
              <a:t>Sales teams lose time before the real conversation starts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60039-F143-4C1F-B57A-AEEE7D58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SalesGenie turns unstructured inquiries into consistent, reviewable sales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5274D-CB05-4904-AD4D-4171DBE4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429000" cy="4095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22AFB-4BEB-4A06-9F17-C0536FEE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2–3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3996C-BDE2-4D15-93CC-BF411E9F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DE0E8"/>
                </a:solidFill>
              </a:defRPr>
            </a:pPr>
            <a:r>
              <a:rPr sz="1650" b="1">
                <a:solidFill>
                  <a:srgbClr val="CDE0E8"/>
                </a:solidFill>
              </a:rPr>
              <a:t>hours per rep, per 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7615C-1564-4197-B4BE-0D1BEC67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2647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DE0E8"/>
                </a:solidFill>
              </a:defRPr>
            </a:pPr>
            <a:r>
              <a:rPr sz="1350" b="0">
                <a:solidFill>
                  <a:srgbClr val="CDE0E8"/>
                </a:solidFill>
              </a:rPr>
              <a:t>spent reading inquiries, extracting details, and deciding what to do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17177-5EEA-4EA9-80DF-66BD1E8F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5C3"/>
                </a:solidFill>
              </a:defRPr>
            </a:pPr>
            <a:r>
              <a:rPr sz="1050" b="1">
                <a:solidFill>
                  <a:srgbClr val="8FD5C3"/>
                </a:solidFill>
              </a:rPr>
              <a:t>The opportunity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32212-EC65-47E4-AC10-156A0F4B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Return that time to selling.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BDB21-88E3-488A-9769-7315057B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33337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33D2A-27F2-41A9-98A0-AA3D4F41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7620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2A71F-E102-440F-8EBE-80DE8F8D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19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Inconsistent qualification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E2662-F5AC-4861-BDF9-968222C9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Lead tiers and missing fields depend on who reads the message.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C653D-C24C-4992-8B99-889807BB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90700"/>
            <a:ext cx="33337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6AB15-2C3E-47B0-AE21-1113CBD6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90700"/>
            <a:ext cx="7620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1D34D-392A-4ECC-8FB2-A85C3F1A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Risky recommendations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F8D11-263B-4305-8364-5487C06B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1935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Manual catalog matching can miss price, stock, or finish constraints.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00AA0-E7FD-4237-A4A8-F3DF576A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67150"/>
            <a:ext cx="333375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7D518-2F38-4828-B992-D8900C12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67150"/>
            <a:ext cx="76200" cy="2019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51422-6F47-4065-A317-71EDE106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957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Slow visibility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A98C3-293F-4C9C-8630-7E4EA8B6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95800"/>
            <a:ext cx="28765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CRM updates and weekly reporting arrive late and take manual effort.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F4425-7EF0-47B4-AE2D-5784F888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67150"/>
            <a:ext cx="333375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96DA5-D9FD-40CF-AA3B-8080FDDE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67150"/>
            <a:ext cx="76200" cy="2019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71DBF7-E995-444F-9E21-4703CAE8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Delayed follow-up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43F11B-EAD5-4D10-8580-73361D70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28765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Even qualified prospects wait while reps draft routine responses.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93AFDC-D042-4A75-8238-62AA894A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CA876E-AA5D-47F0-8258-1F01ADE4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AI SalesGenie • Oak &amp; Ember Interiors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13EA3C-C9C3-4C6E-A27A-C5814D80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0241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54AF06-0B50-4ADF-A24F-439AD480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7A65"/>
                </a:solidFill>
              </a:defRPr>
            </a:pPr>
            <a:r>
              <a:rPr sz="975" b="1">
                <a:solidFill>
                  <a:srgbClr val="117A65"/>
                </a:solidFill>
              </a:rPr>
              <a:t>SOLUTION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BA38F-B6E5-4771-A243-20E1309B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63A"/>
                </a:solidFill>
              </a:defRPr>
            </a:pPr>
            <a:r>
              <a:rPr sz="2700" b="1">
                <a:solidFill>
                  <a:srgbClr val="12263A"/>
                </a:solidFill>
              </a:rPr>
              <a:t>One flow qualifies, grounds, and drafts—another summarizes the 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9EBB7-2815-40F7-8D21-FF8875EE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00325"/>
            <a:ext cx="533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26C48-4F32-460E-95D7-11784FCA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00325"/>
            <a:ext cx="533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16CF1-0FC5-4548-B56C-4937BEDE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00325"/>
            <a:ext cx="533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8BEC3-63E7-4EF0-AD19-D67BFBF3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0325"/>
            <a:ext cx="533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49E46-E10E-4A11-9C63-FB485E6C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00325"/>
            <a:ext cx="533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98319-8115-480F-84F8-86A0C301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4097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AB11A-0E10-4943-AC65-BB22DC36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E46D6-F9F4-4794-ACFE-2255C3ED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F266C-6547-4E4A-9D92-11CF9AB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Inquiry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816FB-8D32-4AA6-8501-F25D7A33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Chat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D0F3D-F169-4C4D-8C9A-C1B989B6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81200"/>
            <a:ext cx="14097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30A7C-48EB-46CF-96B5-BC030F5E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52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DB77D-9014-4C2F-948B-17A130AC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193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F3A53-3FDD-4FA8-8172-9BF0A0AB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1937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Extract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E0580-F7CC-44D7-8E47-251A929B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Structured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309469-23E9-4324-840B-124788E2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81200"/>
            <a:ext cx="14097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6C30D-2E6B-4790-8DB8-D0934CA9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52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43DF1-A763-4924-9974-78790703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03DA7-FA24-4362-8B43-437E2596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1937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Validate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088695-80A8-4333-953C-25C87C76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Catalog guard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4CA8A-EFA8-4CDA-ADF0-2BBAD921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81200"/>
            <a:ext cx="14097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A01271-EB80-4734-8C71-F1EC1BA4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52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BAD1B9-5BDD-434D-BB21-FDA3D60E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193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9A447-8125-4E54-BF68-09113AD3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1937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Draft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91F4BF-8643-48BB-AB50-ED9427C5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Follow-up 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5F8BB0-5262-4B99-A01B-28CA9FC0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14097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850608-A971-4976-A032-60418F91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52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324741-74F5-41BE-983D-FA2CCE2A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193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95ED84-58A4-442B-A802-15587FCA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1937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C4C353-9D05-4AE0-9B99-56386C57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Chat 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FDE208-8195-4884-A036-ADAFE4C5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981200"/>
            <a:ext cx="14097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7DBBC7-9111-4F68-9389-9FE4A334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152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BAB3AC-289B-4009-A18C-EC71E110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193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F8EF24-FC50-4CCD-9B73-1703C3B4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61937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Act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413DB6-1491-4CFE-94F4-3A14E3B4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Rep / CRM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2FA46B-F5A7-4619-8440-624FF430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96774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FC4FC0-7DE9-49AB-B30C-2DD2974C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529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63A"/>
                </a:solidFill>
              </a:defRPr>
            </a:pPr>
            <a:r>
              <a:rPr sz="1575" b="1">
                <a:solidFill>
                  <a:srgbClr val="12263A"/>
                </a:solidFill>
              </a:rPr>
              <a:t>Weekly insight path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078775-3563-40FD-B674-2EAFC225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10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CRM lead CSV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9E31CD-F023-4149-B016-36879D23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7720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7A65"/>
                </a:solidFill>
              </a:defRPr>
            </a:pPr>
            <a:r>
              <a:rPr sz="1725" b="1">
                <a:solidFill>
                  <a:srgbClr val="117A65"/>
                </a:solidFill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6D6554-753B-419E-B9C1-A0F2F953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0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Weekly Sales Aggregator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28BAC1-EDF1-438A-8746-E49DC66C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7720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7A65"/>
                </a:solidFill>
              </a:defRPr>
            </a:pPr>
            <a:r>
              <a:rPr sz="1725" b="1">
                <a:solidFill>
                  <a:srgbClr val="117A65"/>
                </a:solidFill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77BD05-CBB5-4722-BE8A-89783592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012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Lead mix • categories • average budget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DAF9C7-84E6-4590-82CA-DFD4FC34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CF6290-258B-4043-92C5-0B3796D6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AI SalesGenie • Oak &amp; Ember Interiors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9270E6-9F65-48E7-81CB-DF7CA6EB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9391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E172B-617E-4B98-B7A7-072454FC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7A65"/>
                </a:solidFill>
              </a:defRPr>
            </a:pPr>
            <a:r>
              <a:rPr sz="975" b="1">
                <a:solidFill>
                  <a:srgbClr val="117A65"/>
                </a:solidFill>
              </a:rPr>
              <a:t>WORKFLOW IN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107A5-675F-4D6D-8E93-00991CE2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63A"/>
                </a:solidFill>
              </a:defRPr>
            </a:pPr>
            <a:r>
              <a:rPr sz="2700" b="1">
                <a:solidFill>
                  <a:srgbClr val="12263A"/>
                </a:solidFill>
              </a:rPr>
              <a:t>A standing-desk inquiry becomes a catalog-safe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C6723-A886-48C3-96C2-DF0EE30E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Test T1: home-office desk, dark walnut preference, total budget $800.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D68C4-663F-4880-A827-5C77DCE3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667500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57214a42445bd"/>
          <a:stretch xmlns:a="http://schemas.openxmlformats.org/drawingml/2006/main"/>
        </p:blipFill>
        <p:spPr>
          <a:xfrm xmlns:a="http://schemas.openxmlformats.org/drawingml/2006/main">
            <a:off x="1810768" y="1866900"/>
            <a:ext cx="4265164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53B0B-5AE5-4982-84AB-C0264A28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14500"/>
            <a:ext cx="36766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D389C-AC10-40EB-BD09-DB8FA247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1450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FED3A-6546-4D89-96CF-E3EBE88E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4310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P002 • $749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30004-0010-4BC7-9B37-F8B4689C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Adjustable Standing Desk Pro retained.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E3A96-D44C-4E38-A2DE-DCA4BC05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86100"/>
            <a:ext cx="36766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20175-3FF7-4C45-BDF8-A57DEF2C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8610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00B56-2CE9-43FB-8CAD-0AD7AB80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1470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P003 • $449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6160E-BAE5-4023-B393-CA2EBA8D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Adjustable Standing Desk Basic retained.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923CF-EAB5-4265-A1A1-C4EE992F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36766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4F07D-8C69-463F-928E-1990A76C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76200" cy="1543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06E29-0264-4BB3-8B83-7C72BDD2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P004 • $899 rejected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5120E-149B-4723-B3FF-BE47EFEC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8635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The guard enforced the $800 budget and surfaced that dark walnut was not confirmed for retained desks.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BFC66-6223-4C55-9037-353BA28F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BC09D-46BD-4614-A8D9-DE229C5C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AI SalesGenie • Oak &amp; Ember Interiors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0CB1F-FFF4-4832-85FA-A6F66395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64975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74DD80-BBBE-4117-BACF-11D477AE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7A65"/>
                </a:solidFill>
              </a:defRPr>
            </a:pPr>
            <a:r>
              <a:rPr sz="975" b="1">
                <a:solidFill>
                  <a:srgbClr val="117A65"/>
                </a:solidFill>
              </a:rPr>
              <a:t>TRUST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FBFB2-5E52-40F4-9520-C9BB6AE7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63A"/>
                </a:solidFill>
              </a:defRPr>
            </a:pPr>
            <a:r>
              <a:rPr sz="2700" b="1">
                <a:solidFill>
                  <a:srgbClr val="12263A"/>
                </a:solidFill>
              </a:rPr>
              <a:t>The catalog guard turns model suggestions into deterministic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F80B0-65FD-489D-8A48-6B7BC4B7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The LLM interprets intent; code enforces the business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2B961-7460-4755-8D1B-1089BCF7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65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47D4E-F55C-42F2-B96A-9C789F90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FE233-724D-4C16-A0D8-4F6D7888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A0D19-E3B4-4D68-87ED-02623776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907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63A"/>
                </a:solidFill>
              </a:defRPr>
            </a:pPr>
            <a:r>
              <a:rPr sz="1500" b="1">
                <a:solidFill>
                  <a:srgbClr val="12263A"/>
                </a:solidFill>
              </a:rPr>
              <a:t>Product 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4D6AA-DBAF-4E26-A45F-19A99791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86000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Reject IDs or names absent from the catalog.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2D88A-E7DC-4E1D-968B-A6B4660C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65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90F54-7BED-4A77-AB9D-82AD228C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53FA8-383E-470E-8D48-F5FB74F5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9C617-C66D-4AFC-A89E-E9A0CF26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194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63A"/>
                </a:solidFill>
              </a:defRPr>
            </a:pPr>
            <a:r>
              <a:rPr sz="1500" b="1">
                <a:solidFill>
                  <a:srgbClr val="12263A"/>
                </a:solidFill>
              </a:rPr>
              <a:t>Price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401D1-D524-46B5-B861-814BB5AC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Remove products above total or per-unit budget.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B52F1-FD88-49FD-8F61-04253C5C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65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B834B-4B84-49D7-8610-CB52CA1B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919E6-174F-427A-AC08-4FDC7933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1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B952C-D31C-42F8-B366-3F68DE69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481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63A"/>
                </a:solidFill>
              </a:defRPr>
            </a:pPr>
            <a:r>
              <a:rPr sz="1500" b="1">
                <a:solidFill>
                  <a:srgbClr val="12263A"/>
                </a:solidFill>
              </a:rPr>
              <a:t>Availability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75191-D9A9-44A6-9668-BB23A597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Do not recommend out-of-stock items.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4063C4-0D94-4F3F-B497-D008E633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565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852FF5-F8DB-4996-99B2-34E135BB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F3C72-EC90-431D-8F1F-7DCE95C7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0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32FD7-F746-44D1-8E0F-5424BEE5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768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63A"/>
                </a:solidFill>
              </a:defRPr>
            </a:pPr>
            <a:r>
              <a:rPr sz="1500" b="1">
                <a:solidFill>
                  <a:srgbClr val="12263A"/>
                </a:solidFill>
              </a:rPr>
              <a:t>Claims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F2393-4CB4-4FE6-86F9-A44532B7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72100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Use catalog descriptions and state unconfirmed constraints.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947E6D-A9DF-40E6-87CD-F7B4CE62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28800"/>
            <a:ext cx="45720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4CF78A-6C19-44BA-A320-743D8657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71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9B6EE1-3B73-42CB-B006-FB20E0F4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19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D5C3"/>
                </a:solidFill>
              </a:defRPr>
            </a:pPr>
            <a:r>
              <a:rPr sz="1275" b="1">
                <a:solidFill>
                  <a:srgbClr val="8FD5C3"/>
                </a:solidFill>
              </a:rPr>
              <a:t>Grounding is measurable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4A5D18-1FEC-4243-BED7-F91A5218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432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EA"/>
                </a:solidFill>
              </a:defRPr>
            </a:pPr>
            <a:r>
              <a:rPr sz="1350" b="0">
                <a:solidFill>
                  <a:srgbClr val="D7E5EA"/>
                </a:solidFill>
              </a:rPr>
              <a:t>Every retained recommendation has an exact catalog row.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DCD3C7-0655-4531-BCD3-5C8439EB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86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3C866"/>
                </a:solidFill>
              </a:defRPr>
            </a:pPr>
            <a:r>
              <a:rPr sz="1275" b="1">
                <a:solidFill>
                  <a:srgbClr val="F3C866"/>
                </a:solidFill>
              </a:rPr>
              <a:t>Failures are explainable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AADD20-0177-4AB5-8222-BA0B5164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100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EA"/>
                </a:solidFill>
              </a:defRPr>
            </a:pPr>
            <a:r>
              <a:rPr sz="1350" b="0">
                <a:solidFill>
                  <a:srgbClr val="D7E5EA"/>
                </a:solidFill>
              </a:rPr>
              <a:t>Rejections name the product and the rule that blocked it.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6C1744-2605-4825-A5B5-F1A9A5FF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53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9C86"/>
                </a:solidFill>
              </a:defRPr>
            </a:pPr>
            <a:r>
              <a:rPr sz="1275" b="1">
                <a:solidFill>
                  <a:srgbClr val="F29C86"/>
                </a:solidFill>
              </a:rPr>
              <a:t>Human review stays in control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16176E-6855-4751-880F-217F1BEE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768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EA"/>
                </a:solidFill>
              </a:defRPr>
            </a:pPr>
            <a:r>
              <a:rPr sz="1350" b="0">
                <a:solidFill>
                  <a:srgbClr val="D7E5EA"/>
                </a:solidFill>
              </a:rPr>
              <a:t>Drafts are produced for review; they are not sent automatically.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378121-A79B-4648-8D4B-4CE4F614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32ECA8-1794-480F-B4A4-E778C739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AI SalesGenie • Oak &amp; Ember Interiors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E6ABF1-0136-486D-945B-1D15A127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53966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A8443-F9F9-4959-9215-DA382C08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7A65"/>
                </a:solidFill>
              </a:defRPr>
            </a:pPr>
            <a:r>
              <a:rPr sz="975" b="1">
                <a:solidFill>
                  <a:srgbClr val="117A65"/>
                </a:solidFill>
              </a:rPr>
              <a:t>EXTENDED CAPABILITY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0E8A6-3299-47BA-8C8F-97825780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63A"/>
                </a:solidFill>
              </a:defRPr>
            </a:pPr>
            <a:r>
              <a:rPr sz="2700" b="1">
                <a:solidFill>
                  <a:srgbClr val="12263A"/>
                </a:solidFill>
              </a:rPr>
              <a:t>Personalized follow-up drafting closes the response-time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46B94-47B7-4E97-9A6F-017C6419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The validated record and original inquiry are converted into a review-ready email.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898AE-6BF1-4831-824F-39C79CD0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029450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a0435efc6442e"/>
          <a:stretch xmlns:a="http://schemas.openxmlformats.org/drawingml/2006/main"/>
        </p:blipFill>
        <p:spPr>
          <a:xfrm xmlns:a="http://schemas.openxmlformats.org/drawingml/2006/main">
            <a:off x="1961193" y="1885950"/>
            <a:ext cx="4326264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A7729-CBAC-4527-B548-0D2A14A9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33550"/>
            <a:ext cx="3314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59E68-F189-4519-A184-F9C3CB61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3355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57CA3-B5B0-4CB0-A56F-369959D9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62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Personalized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41595-4F00-432A-B62C-EF85559D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Uses customer context, budget, products, prices, and stock.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505CA-7AC8-4FE7-8791-72B776BA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05150"/>
            <a:ext cx="3314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ABB99-9263-4B10-AD70-EC0E8980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0515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972AD-8700-41E1-95B3-0A65FAA7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Grounded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B65A8-8EBA-4DCE-A17C-74205283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Mentions only products and limitations passed by the catalog guard.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F82F3-AC3A-4FFE-9F73-D7B9F91F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33147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E3331-5DDC-43ED-9D03-C4197888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76200" cy="1543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F0670-EEF4-46BF-B7FD-F1D27113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05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Actionable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9C457-272D-4D11-BC14-4B771532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054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Includes a clear next step and remains a draft for sales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29F3DA-D475-4DF2-BA53-08DA8B83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4B730F-F590-4161-BC31-75CCA615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AI SalesGenie • Oak &amp; Ember Interiors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86C249-E210-4B32-91A3-AB6E3C92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43331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D4A436-FDE6-4FDE-B6A7-D63C9683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7A65"/>
                </a:solidFill>
              </a:defRPr>
            </a:pPr>
            <a:r>
              <a:rPr sz="975" b="1">
                <a:solidFill>
                  <a:srgbClr val="117A65"/>
                </a:solidFill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228E1-4051-46B2-940C-015E98C5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63A"/>
                </a:solidFill>
              </a:defRPr>
            </a:pPr>
            <a:r>
              <a:rPr sz="2700" b="1">
                <a:solidFill>
                  <a:srgbClr val="12263A"/>
                </a:solidFill>
              </a:rPr>
              <a:t>Eleven baseline scenarios passed with trace-level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D0799-48BE-4263-9022-69545822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Langfuse connects outcomes to model calls, cost, latency, inputs, and outputs.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869CD-AC9F-4BE1-82EA-AB3F147D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191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B2F91-097C-4CC3-8154-7C7B6A0A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11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5C207-1DB6-4AE7-85DE-70DBD437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DF3EA"/>
                </a:solidFill>
              </a:defRPr>
            </a:pPr>
            <a:r>
              <a:rPr sz="1650" b="1">
                <a:solidFill>
                  <a:srgbClr val="DDF3EA"/>
                </a:solidFill>
              </a:rPr>
              <a:t>baseline 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9463A-68BE-4316-A83E-36B7A950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3EA"/>
                </a:solidFill>
              </a:defRPr>
            </a:pPr>
            <a:r>
              <a:rPr sz="1050" b="0">
                <a:solidFill>
                  <a:srgbClr val="DDF3EA"/>
                </a:solidFill>
              </a:rPr>
              <a:t>Covers recommendation, stock, comparison, vague, and spam cases.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10F27-070D-4274-86EE-3133D68A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1910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89ED1-E8FF-4AA1-A4B4-8E1D841C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63A"/>
                </a:solidFill>
              </a:defRPr>
            </a:pPr>
            <a:r>
              <a:rPr sz="1500" b="1">
                <a:solidFill>
                  <a:srgbClr val="12263A"/>
                </a:solidFill>
              </a:rPr>
              <a:t>Representative T1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4DA7F-2409-4D7C-BE46-FEA51CE2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3,772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DE1A1-C28D-4118-AA48-95F7CF35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F8078-CBFE-480B-A0E7-9AC4E10D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148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$0.000787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80413-73B7-4CF5-AF0A-DBCEA6F4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577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model 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C5FDA-6944-444B-937F-957FB532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148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6.40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944A9-4C20-40D7-A62A-7F834EC7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577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model 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E59AD-B87A-443C-9D8B-3929A0DC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7A65"/>
                </a:solidFill>
              </a:defRPr>
            </a:pPr>
            <a:r>
              <a:rPr sz="1200" b="1">
                <a:solidFill>
                  <a:srgbClr val="117A65"/>
                </a:solidFill>
              </a:rPr>
              <a:t>Manual score: overall_pass = True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A5F74-2716-4C4F-9D85-7A76D804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6134100" cy="4114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194b6d61044e3"/>
          <a:stretch xmlns:a="http://schemas.openxmlformats.org/drawingml/2006/main"/>
        </p:blipFill>
        <p:spPr>
          <a:xfrm xmlns:a="http://schemas.openxmlformats.org/drawingml/2006/main">
            <a:off x="5295900" y="2477927"/>
            <a:ext cx="5829300" cy="2664146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ABA4AF-69A0-4426-8EEF-9806F9AC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B1B0C8-C29A-456E-820A-DE46DAC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AI SalesGenie • Oak &amp; Ember Interiors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52D75-03D8-40E8-8474-D232AB6C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65520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521C6D-4209-40B4-AC27-99C4B941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7A65"/>
                </a:solidFill>
              </a:defRPr>
            </a:pPr>
            <a:r>
              <a:rPr sz="975" b="1">
                <a:solidFill>
                  <a:srgbClr val="117A65"/>
                </a:solidFill>
              </a:rPr>
              <a:t>WEEKLY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BEA64-B96D-47DB-A2E7-3892E9ED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63A"/>
                </a:solidFill>
              </a:defRPr>
            </a:pPr>
            <a:r>
              <a:rPr sz="2700" b="1">
                <a:solidFill>
                  <a:srgbClr val="12263A"/>
                </a:solidFill>
              </a:rPr>
              <a:t>Seven leads become a clear sales snapshot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19369-3DBA-420D-A2C5-6A0D953E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The aggregator provides management visibility without manually assembling a report.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BEEB6-BC52-491A-A6A2-299F6CBF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102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819150" y="211455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a750f38e4445e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C0BEC-827F-4628-9DA2-A1DB58ED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63A"/>
                </a:solidFill>
              </a:defRPr>
            </a:pPr>
            <a:r>
              <a:rPr sz="1500" b="1">
                <a:solidFill>
                  <a:srgbClr val="12263A"/>
                </a:solidFill>
              </a:rPr>
              <a:t>Lead tier distribution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974D8-E61A-49EB-B579-7CFA9F95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49149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9C72A-522F-4FC1-BB7F-78A2EE9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$18,960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47709-DB10-4D56-A8BF-74D67F36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14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DE0E8"/>
                </a:solidFill>
              </a:defRPr>
            </a:pPr>
            <a:r>
              <a:rPr sz="1125" b="0">
                <a:solidFill>
                  <a:srgbClr val="CDE0E8"/>
                </a:solidFill>
              </a:rPr>
              <a:t>average known budget • 5 known / 2 missing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48999-4E9E-4D33-AF82-7F5E5DA3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49149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AAB6C-19FD-48C1-B9DC-1996E39C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76200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7F11E-9009-4CA6-906F-F18F2A38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290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Top categories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84EAB-7C06-45CC-A4AB-D6BA1D7F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290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Desk • Full Office 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3005E-6248-4DDA-8716-DEE594FA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91050"/>
            <a:ext cx="4914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600E7-F2F5-4546-824E-488FE3FC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9105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A3468-7233-43CC-BF91-F11D3838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196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Management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1457C-763D-4E13-86DC-B7FC8186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19700"/>
            <a:ext cx="445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Prioritize hot leads, identify category demand, and track missing budget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CB56F-646A-4215-A815-08D80415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B448D-B7A0-484D-BC2F-DA504FBD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AI SalesGenie • Oak &amp; Ember Interiors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08154-6E4B-4858-823C-CC8BA266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36058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2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A7C79-BDA5-44FF-ACDB-E8D7C5DD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5C3"/>
                </a:solidFill>
              </a:defRPr>
            </a:pPr>
            <a:r>
              <a:rPr sz="975" b="1">
                <a:solidFill>
                  <a:srgbClr val="8FD5C3"/>
                </a:solidFill>
              </a:rPr>
              <a:t>FROM PROTOTYPE TO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1AB87-2C5A-431A-B220-03E2224B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 controlled rollout keeps quality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64B3A-2358-4E97-B4C9-139EE1C2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71850" cy="26289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83A50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71916-DCEB-4B39-B26C-E5EA52EC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5C3"/>
                </a:solidFill>
              </a:defRPr>
            </a:pPr>
            <a:r>
              <a:rPr sz="1200" b="1">
                <a:solidFill>
                  <a:srgbClr val="8FD5C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6A1FB-568F-47A6-9136-50DCB910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D5190-8159-4AF1-AE35-F31A432E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C866"/>
                </a:solidFill>
              </a:defRPr>
            </a:pPr>
            <a:r>
              <a:rPr sz="1350" b="1">
                <a:solidFill>
                  <a:srgbClr val="F3C866"/>
                </a:solidFill>
              </a:rPr>
              <a:t>3–5 sales representatives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34F9C-38E9-455A-AE6C-29D939E5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E0E8"/>
                </a:solidFill>
              </a:defRPr>
            </a:pPr>
            <a:r>
              <a:rPr sz="1275" b="0">
                <a:solidFill>
                  <a:srgbClr val="CDE0E8"/>
                </a:solidFill>
              </a:rPr>
              <a:t>Validate outputs and collect corrections.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631AB-60C4-4BC2-BC67-B58A39C8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52600"/>
            <a:ext cx="3371850" cy="26289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83A50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7940B-8881-4752-AF87-F8E341A9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5C3"/>
                </a:solidFill>
              </a:defRPr>
            </a:pPr>
            <a:r>
              <a:rPr sz="1200" b="1">
                <a:solidFill>
                  <a:srgbClr val="8FD5C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96643-EF7F-4107-93E9-B37A5E12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57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Tune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DC33E-D841-45C9-B1AB-70CBC0A0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14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C866"/>
                </a:solidFill>
              </a:defRPr>
            </a:pPr>
            <a:r>
              <a:rPr sz="1350" b="1">
                <a:solidFill>
                  <a:srgbClr val="F3C866"/>
                </a:solidFill>
              </a:rPr>
              <a:t>Prompt + guard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DBE75-D349-40B5-A71F-BD8EE030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909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E0E8"/>
                </a:solidFill>
              </a:defRPr>
            </a:pPr>
            <a:r>
              <a:rPr sz="1275" b="0">
                <a:solidFill>
                  <a:srgbClr val="CDE0E8"/>
                </a:solidFill>
              </a:rPr>
              <a:t>Use trace scores and failure patterns.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0443B-947B-4BC5-B401-35AAE81C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3371850" cy="26289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83A50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7400E-9BEE-4468-B31B-3C294823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5C3"/>
                </a:solidFill>
              </a:defRPr>
            </a:pPr>
            <a:r>
              <a:rPr sz="1200" b="1">
                <a:solidFill>
                  <a:srgbClr val="8FD5C3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0684E-BA08-4E65-8C75-40A12C79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41CCE-8941-42C0-99FE-73B7F959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14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C866"/>
                </a:solidFill>
              </a:defRPr>
            </a:pPr>
            <a:r>
              <a:rPr sz="1350" b="1">
                <a:solidFill>
                  <a:srgbClr val="F3C866"/>
                </a:solidFill>
              </a:rPr>
              <a:t>Up to 20 users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001DE-40B9-432A-9D37-ED7785A2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909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E0E8"/>
                </a:solidFill>
              </a:defRPr>
            </a:pPr>
            <a:r>
              <a:rPr sz="1275" b="0">
                <a:solidFill>
                  <a:srgbClr val="CDE0E8"/>
                </a:solidFill>
              </a:rPr>
              <a:t>Monitor latency, cost, and adoption.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B761B-87EC-4091-A73C-06CE2D5F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D5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ACDA3-EA1A-4814-8B6A-E3AE2161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00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E8DD"/>
                </a:solidFill>
              </a:defRPr>
            </a:pPr>
            <a:r>
              <a:rPr sz="1200" b="1">
                <a:solidFill>
                  <a:srgbClr val="BFE8DD"/>
                </a:solidFill>
              </a:rPr>
              <a:t>Submission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F2D90-7681-4A9D-9D7D-9F09A215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 exported Langflow flows  •  deterministic guard components  •  BRD + PRD  •  baseline test report  •  Langfuse screenshots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CC262E-6E4D-4C27-8586-31F1C195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4C2"/>
                </a:solidFill>
              </a:defRPr>
            </a:pPr>
            <a:r>
              <a:rPr sz="900" b="1">
                <a:solidFill>
                  <a:srgbClr val="9FB4C2"/>
                </a:solidFill>
              </a:rPr>
              <a:t>AI SalesGenie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511F46-F53D-4513-ABFC-FB39896E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4C2"/>
                </a:solidFill>
              </a:defRPr>
            </a:pPr>
            <a:r>
              <a:rPr sz="825" b="1">
                <a:solidFill>
                  <a:srgbClr val="9FB4C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09228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2026-09-04T04:08:25.6550000Z</dcterms:created>
  <dcterms:modified xsi:type="dcterms:W3CDTF">2026-09-04T04:08:25.6550000Z</dcterms:modified>
</coreProperties>
</file>
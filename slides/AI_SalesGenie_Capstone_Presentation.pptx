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Leads</c:v>
          </c:tx>
          <c:dPt>
            <c:idx val="0"/>
            <c:bubble3D val="0"/>
            <c:spPr>
              <a:solidFill>
                <a:srgbClr val="117A65"/>
              </a:solidFill>
            </c:spPr>
            <c:extLst>
              <c:ext xmlns:c16="http://schemas.microsoft.com/office/drawing/2014/chart" uri="{C3380CC4-5D6E-409C-BE32-E72D297353CC}">
                <c16:uniqueId val="{00000001-CD84-460E-8CF1-83E4D746CACF}"/>
              </c:ext>
            </c:extLst>
          </c:dPt>
          <c:dPt>
            <c:idx val="1"/>
            <c:bubble3D val="0"/>
            <c:spPr>
              <a:solidFill>
                <a:srgbClr val="E3A72F"/>
              </a:solidFill>
            </c:spPr>
            <c:extLst>
              <c:ext xmlns:c16="http://schemas.microsoft.com/office/drawing/2014/chart" uri="{C3380CC4-5D6E-409C-BE32-E72D297353CC}">
                <c16:uniqueId val="{00000003-CD84-460E-8CF1-83E4D746CACF}"/>
              </c:ext>
            </c:extLst>
          </c:dPt>
          <c:dPt>
            <c:idx val="2"/>
            <c:bubble3D val="0"/>
            <c:spPr>
              <a:solidFill>
                <a:srgbClr val="E76F51"/>
              </a:solidFill>
            </c:spPr>
            <c:extLst>
              <c:ext xmlns:c16="http://schemas.microsoft.com/office/drawing/2014/chart" uri="{C3380CC4-5D6E-409C-BE32-E72D297353CC}">
                <c16:uniqueId val="{00000005-CD84-460E-8CF1-83E4D746CAC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 b="1">
                    <a:solidFill>
                      <a:srgbClr val="17212B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Lit>
              <c:ptCount val="3"/>
              <c:pt idx="0">
                <c:v>Hot</c:v>
              </c:pt>
              <c:pt idx="1">
                <c:v>Warm</c:v>
              </c:pt>
              <c:pt idx="2">
                <c:v>Cold</c:v>
              </c:pt>
            </c:strLit>
          </c:cat>
          <c:val>
            <c:numLit>
              <c:formatCode>General</c:formatCode>
              <c:ptCount val="3"/>
              <c:pt idx="0">
                <c:v>4</c:v>
              </c:pt>
              <c:pt idx="1">
                <c:v>2</c:v>
              </c:pt>
              <c:pt idx="2">
                <c:v>1</c:v>
              </c:pt>
            </c:numLit>
          </c:val>
          <c:extLst>
            <c:ext xmlns:c16="http://schemas.microsoft.com/office/drawing/2014/chart" uri="{C3380CC4-5D6E-409C-BE32-E72D297353CC}">
              <c16:uniqueId val="{00000006-CD84-460E-8CF1-83E4D746CACF}"/>
            </c:ext>
          </c:extLst>
        </c:ser>
        <c:dLbls>
          <c:showLegendKey val="0"/>
          <c:showVal val="1"/>
          <c:showCatName val="1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solidFill>
          <a:srgbClr val="FFFFFF"/>
        </a:solidFill>
      </c:spPr>
    </c:plotArea>
    <c:legend>
      <c:legendPos val="b"/>
      <c:overlay val="0"/>
      <c:txPr>
        <a:bodyPr anchorCtr="1"/>
        <a:lstStyle/>
        <a:p>
          <a:pPr>
            <a:defRPr sz="1125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Project repository: AI_SalesGenie (local project files)</a:t>
            </a:r>
          </a:p>
          <a:p>
            <a:r>
              <a:t>- User-provided assignment context and implementation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Business Requirements Document, section 2: Business Context and Problem Statement</a:t>
            </a:r>
          </a:p>
          <a:p>
            <a:r>
              <a:t>- Product Requirements Document, problem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Exported Langflow flows: 01_router_extractor.json, 02_catalog_recommender_followup.json, 03_weekly_summary.json</a:t>
            </a:r>
          </a:p>
          <a:p>
            <a:r>
              <a:t>- Repository README architecture description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evaluation/evidence/langfuse/04-catalog-guard-output.png</a:t>
            </a:r>
          </a:p>
          <a:p>
            <a:r>
              <a:t>- Evaluation baseline T1 and catalog guard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langflow/catalog_guard_component.py</a:t>
            </a:r>
          </a:p>
          <a:p>
            <a:r>
              <a:t>- PRD functional and non-functional requirements</a:t>
            </a:r>
          </a:p>
          <a:p>
            <a:r>
              <a:t>- README security and privacy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evaluation/evidence/langfuse/06-follow-up-email-output.png</a:t>
            </a:r>
          </a:p>
          <a:p>
            <a:r>
              <a:t>- Exported flow 02_catalog_recommender_followup.json</a:t>
            </a:r>
          </a:p>
          <a:p>
            <a:r>
              <a:t>- Extended capability: Automated Follow-Up Drafting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evaluation/BASELINE_RESULTS.md</a:t>
            </a:r>
          </a:p>
          <a:p>
            <a:r>
              <a:t>- evaluation/evidence/langfuse/01-tracing-overview.png</a:t>
            </a:r>
          </a:p>
          <a:p>
            <a:r>
              <a:t>- evaluation/evidence/langfuse/02-router-model-usage.png</a:t>
            </a:r>
          </a:p>
          <a:p>
            <a:r>
              <a:t>- evaluation/evidence/langfuse/05-follow-up-model-usage.png</a:t>
            </a:r>
          </a:p>
          <a:p>
            <a:r>
              <a:t>- evaluation/evidence/langfuse/07-manual-overall-pass-score.png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Weekly Sales Aggregator output supplied by the user</a:t>
            </a:r>
          </a:p>
          <a:p>
            <a:r>
              <a:t>- Exported flow 03_weekly_summary.json</a:t>
            </a:r>
          </a:p>
          <a:p>
            <a:r>
              <a:t>- CRM sample source lead IDs L001–L007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BRD rollout and success criteria</a:t>
            </a:r>
          </a:p>
          <a:p>
            <a:r>
              <a:t>- PRD roadmap and quality requirements</a:t>
            </a:r>
          </a:p>
          <a:p>
            <a:r>
              <a:t>- Repository contents and evaluation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7A93BCF-F26A-459B-9A4A-C7CA43A202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F5F806D-D949-4483-8CF1-253D91F3C52F}"/>
              </a:ext>
            </a:extLst>
          </p:cNvPr>
          <p:cNvSpPr>
            <a:spLocks noGrp="1"/>
          </p:cNvSpPr>
          <p:nvPr/>
        </p:nvSpPr>
        <p:spPr>
          <a:xfrm>
            <a:off x="8953500" y="0"/>
            <a:ext cx="3238500" cy="2952750"/>
          </a:xfrm>
          <a:prstGeom prst="ellipse">
            <a:avLst/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B87AE08-21D7-491C-8245-3152136FD55D}"/>
              </a:ext>
            </a:extLst>
          </p:cNvPr>
          <p:cNvSpPr>
            <a:spLocks noGrp="1"/>
          </p:cNvSpPr>
          <p:nvPr/>
        </p:nvSpPr>
        <p:spPr>
          <a:xfrm>
            <a:off x="10001250" y="4171950"/>
            <a:ext cx="2190750" cy="2190750"/>
          </a:xfrm>
          <a:prstGeom prst="ellipse">
            <a:avLst/>
          </a:prstGeom>
          <a:solidFill>
            <a:srgbClr val="E3A72F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7A749-51DB-431C-828F-E9335DA71E20}"/>
              </a:ext>
            </a:extLst>
          </p:cNvPr>
          <p:cNvSpPr>
            <a:spLocks noGrp="1"/>
          </p:cNvSpPr>
          <p:nvPr/>
        </p:nvSpPr>
        <p:spPr>
          <a:xfrm>
            <a:off x="685800" y="7620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9ED9C9"/>
                </a:solidFill>
              </a:defRPr>
            </a:pPr>
            <a:r>
              <a:rPr sz="1125" b="1">
                <a:solidFill>
                  <a:srgbClr val="9ED9C9"/>
                </a:solidFill>
              </a:rPr>
              <a:t>CAPSTONE PRESENTATION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8EC13E-425E-4D43-AA05-1BF8208F4F45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7239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AI SalesGenie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4187DC-28A6-423C-8008-B425B43D9F69}"/>
              </a:ext>
            </a:extLst>
          </p:cNvPr>
          <p:cNvSpPr>
            <a:spLocks noGrp="1"/>
          </p:cNvSpPr>
          <p:nvPr/>
        </p:nvSpPr>
        <p:spPr>
          <a:xfrm>
            <a:off x="685800" y="2362200"/>
            <a:ext cx="685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DCE7EC"/>
                </a:solidFill>
              </a:defRPr>
            </a:pPr>
            <a:r>
              <a:rPr sz="1875" b="0" dirty="0">
                <a:solidFill>
                  <a:srgbClr val="DCE7EC"/>
                </a:solidFill>
              </a:rPr>
              <a:t>Grounded lead qualification, catalog recommendations, and personalized follow-up drafts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9DA5486-81BB-4BF3-9C41-22404EF071D4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6572250" cy="1047750"/>
          </a:xfrm>
          <a:prstGeom prst="roundRect">
            <a:avLst>
              <a:gd name="adj" fmla="val 14545"/>
            </a:avLst>
          </a:prstGeom>
          <a:solidFill>
            <a:srgbClr val="183A50"/>
          </a:solidFill>
          <a:ln w="9525">
            <a:solidFill>
              <a:srgbClr val="31566C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D51326-E9F9-4140-A1B8-FB26E10A2D07}"/>
              </a:ext>
            </a:extLst>
          </p:cNvPr>
          <p:cNvSpPr>
            <a:spLocks noGrp="1"/>
          </p:cNvSpPr>
          <p:nvPr/>
        </p:nvSpPr>
        <p:spPr>
          <a:xfrm>
            <a:off x="952500" y="41719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Built for Oak &amp; Ember Interiors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D8327E-721F-4AD6-B6E5-B8226B921B95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BFD1DB"/>
                </a:solidFill>
              </a:defRPr>
            </a:pPr>
            <a:r>
              <a:rPr sz="1200" b="0">
                <a:solidFill>
                  <a:srgbClr val="BFD1DB"/>
                </a:solidFill>
              </a:rPr>
              <a:t>Langflow • OpenAI • Deterministic catalog guard • Langfuse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53E7D-5202-4BF4-976A-0B83EAF4C95E}"/>
              </a:ext>
            </a:extLst>
          </p:cNvPr>
          <p:cNvSpPr>
            <a:spLocks noGrp="1"/>
          </p:cNvSpPr>
          <p:nvPr/>
        </p:nvSpPr>
        <p:spPr>
          <a:xfrm>
            <a:off x="791852" y="5759777"/>
            <a:ext cx="5213022" cy="6029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9FB4C2"/>
                </a:solidFill>
              </a:defRPr>
            </a:pPr>
            <a:r>
              <a:rPr sz="2400" b="1" dirty="0">
                <a:solidFill>
                  <a:srgbClr val="9FB4C2"/>
                </a:solidFill>
              </a:rPr>
              <a:t>Submission deck</a:t>
            </a:r>
            <a:r>
              <a:rPr lang="en-IN" sz="2400" b="1" dirty="0">
                <a:solidFill>
                  <a:srgbClr val="9FB4C2"/>
                </a:solidFill>
              </a:rPr>
              <a:t>- by Prasanth Rasam</a:t>
            </a:r>
            <a:endParaRPr sz="2400" b="1" dirty="0">
              <a:solidFill>
                <a:srgbClr val="9FB4C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9194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F637B32A-D0F7-4247-AE4F-AA53553D9B73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17A65"/>
                </a:solidFill>
              </a:defRPr>
            </a:pPr>
            <a:r>
              <a:rPr sz="975" b="1">
                <a:solidFill>
                  <a:srgbClr val="117A65"/>
                </a:solidFill>
              </a:rPr>
              <a:t>BUSINESS NEED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709449-CB28-4D5F-BA48-788B9CAB2819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10972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2263A"/>
                </a:solidFill>
              </a:defRPr>
            </a:pPr>
            <a:r>
              <a:rPr sz="2700" b="1">
                <a:solidFill>
                  <a:srgbClr val="12263A"/>
                </a:solidFill>
              </a:rPr>
              <a:t>Sales teams lose time before the real conversation starts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160039-F143-4C1F-B57A-AEEE7D58052D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SalesGenie turns unstructured inquiries into consistent, reviewable sales actions.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65274D-CB05-4904-AD4D-4171DBE4A023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3429000" cy="4095750"/>
          </a:xfrm>
          <a:prstGeom prst="roundRect">
            <a:avLst>
              <a:gd name="adj" fmla="val 4444"/>
            </a:avLst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422AFB-4BEB-4A06-9F17-C0536FEE0EBA}"/>
              </a:ext>
            </a:extLst>
          </p:cNvPr>
          <p:cNvSpPr>
            <a:spLocks noGrp="1"/>
          </p:cNvSpPr>
          <p:nvPr/>
        </p:nvSpPr>
        <p:spPr>
          <a:xfrm>
            <a:off x="933450" y="2133600"/>
            <a:ext cx="2762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2–3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93996C-BDE2-4D15-93CC-BF411E9F4C00}"/>
              </a:ext>
            </a:extLst>
          </p:cNvPr>
          <p:cNvSpPr>
            <a:spLocks noGrp="1"/>
          </p:cNvSpPr>
          <p:nvPr/>
        </p:nvSpPr>
        <p:spPr>
          <a:xfrm>
            <a:off x="933450" y="291465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CDE0E8"/>
                </a:solidFill>
              </a:defRPr>
            </a:pPr>
            <a:r>
              <a:rPr sz="1650" b="1">
                <a:solidFill>
                  <a:srgbClr val="CDE0E8"/>
                </a:solidFill>
              </a:rPr>
              <a:t>hours per rep, per day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B7615C-1564-4197-B4BE-0D1BEC678CEE}"/>
              </a:ext>
            </a:extLst>
          </p:cNvPr>
          <p:cNvSpPr>
            <a:spLocks noGrp="1"/>
          </p:cNvSpPr>
          <p:nvPr/>
        </p:nvSpPr>
        <p:spPr>
          <a:xfrm>
            <a:off x="933450" y="3448050"/>
            <a:ext cx="26479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CDE0E8"/>
                </a:solidFill>
              </a:defRPr>
            </a:pPr>
            <a:r>
              <a:rPr sz="1350" b="0">
                <a:solidFill>
                  <a:srgbClr val="CDE0E8"/>
                </a:solidFill>
              </a:rPr>
              <a:t>spent reading inquiries, extracting details, and deciding what to do next.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B17177-5EEA-4EA9-80DF-66BD1E8F0B6B}"/>
              </a:ext>
            </a:extLst>
          </p:cNvPr>
          <p:cNvSpPr>
            <a:spLocks noGrp="1"/>
          </p:cNvSpPr>
          <p:nvPr/>
        </p:nvSpPr>
        <p:spPr>
          <a:xfrm>
            <a:off x="933450" y="506730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8FD5C3"/>
                </a:solidFill>
              </a:defRPr>
            </a:pPr>
            <a:r>
              <a:rPr sz="1050" b="1">
                <a:solidFill>
                  <a:srgbClr val="8FD5C3"/>
                </a:solidFill>
              </a:rPr>
              <a:t>The opportunity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B32212-EC65-47E4-AC10-156A0F4B12A1}"/>
              </a:ext>
            </a:extLst>
          </p:cNvPr>
          <p:cNvSpPr>
            <a:spLocks noGrp="1"/>
          </p:cNvSpPr>
          <p:nvPr/>
        </p:nvSpPr>
        <p:spPr>
          <a:xfrm>
            <a:off x="933450" y="53149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Return that time to selling.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BDB21-88E3-488A-9769-7315057B0F8D}"/>
              </a:ext>
            </a:extLst>
          </p:cNvPr>
          <p:cNvSpPr>
            <a:spLocks noGrp="1"/>
          </p:cNvSpPr>
          <p:nvPr/>
        </p:nvSpPr>
        <p:spPr>
          <a:xfrm>
            <a:off x="4362450" y="1790700"/>
            <a:ext cx="3333750" cy="184785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3633D2A-27F2-41A9-98A0-AA3D4F41A0BA}"/>
              </a:ext>
            </a:extLst>
          </p:cNvPr>
          <p:cNvSpPr>
            <a:spLocks noGrp="1"/>
          </p:cNvSpPr>
          <p:nvPr/>
        </p:nvSpPr>
        <p:spPr>
          <a:xfrm>
            <a:off x="4362450" y="1790700"/>
            <a:ext cx="76200" cy="1847850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72A71F-E102-440F-8EBE-80DE8F8D9FC5}"/>
              </a:ext>
            </a:extLst>
          </p:cNvPr>
          <p:cNvSpPr>
            <a:spLocks noGrp="1"/>
          </p:cNvSpPr>
          <p:nvPr/>
        </p:nvSpPr>
        <p:spPr>
          <a:xfrm>
            <a:off x="4610100" y="20193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Inconsistent qualification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BE2662-F5AC-4861-BDF9-968222C9F7CC}"/>
              </a:ext>
            </a:extLst>
          </p:cNvPr>
          <p:cNvSpPr>
            <a:spLocks noGrp="1"/>
          </p:cNvSpPr>
          <p:nvPr/>
        </p:nvSpPr>
        <p:spPr>
          <a:xfrm>
            <a:off x="4610100" y="2419350"/>
            <a:ext cx="2876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Lead tiers and missing fields depend on who reads the message.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AC653D-C24C-4992-8B99-889807BBBEE2}"/>
              </a:ext>
            </a:extLst>
          </p:cNvPr>
          <p:cNvSpPr>
            <a:spLocks noGrp="1"/>
          </p:cNvSpPr>
          <p:nvPr/>
        </p:nvSpPr>
        <p:spPr>
          <a:xfrm>
            <a:off x="7943850" y="1790700"/>
            <a:ext cx="3333750" cy="184785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426AB15-2C3E-47B0-AE21-1113CBD68E63}"/>
              </a:ext>
            </a:extLst>
          </p:cNvPr>
          <p:cNvSpPr>
            <a:spLocks noGrp="1"/>
          </p:cNvSpPr>
          <p:nvPr/>
        </p:nvSpPr>
        <p:spPr>
          <a:xfrm>
            <a:off x="7943850" y="1790700"/>
            <a:ext cx="76200" cy="1847850"/>
          </a:xfrm>
          <a:prstGeom prst="roundRect">
            <a:avLst>
              <a:gd name="adj" fmla="val 50000"/>
            </a:avLst>
          </a:prstGeom>
          <a:solidFill>
            <a:srgbClr val="E3A72F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11D34D-392A-4ECC-8FB2-A85C3F1AEDC3}"/>
              </a:ext>
            </a:extLst>
          </p:cNvPr>
          <p:cNvSpPr>
            <a:spLocks noGrp="1"/>
          </p:cNvSpPr>
          <p:nvPr/>
        </p:nvSpPr>
        <p:spPr>
          <a:xfrm>
            <a:off x="8191500" y="20193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Risky recommendations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4F8D11-263B-4305-8364-5487C06B9ECB}"/>
              </a:ext>
            </a:extLst>
          </p:cNvPr>
          <p:cNvSpPr>
            <a:spLocks noGrp="1"/>
          </p:cNvSpPr>
          <p:nvPr/>
        </p:nvSpPr>
        <p:spPr>
          <a:xfrm>
            <a:off x="8191500" y="2419350"/>
            <a:ext cx="2876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Manual catalog matching can miss price, stock, or finish constraints.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B400AA0-E7FD-4237-A4A8-F3DF576A6F4D}"/>
              </a:ext>
            </a:extLst>
          </p:cNvPr>
          <p:cNvSpPr>
            <a:spLocks noGrp="1"/>
          </p:cNvSpPr>
          <p:nvPr/>
        </p:nvSpPr>
        <p:spPr>
          <a:xfrm>
            <a:off x="4362450" y="3867150"/>
            <a:ext cx="3333750" cy="20193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E47D518-2F38-4828-B992-D8900C12F757}"/>
              </a:ext>
            </a:extLst>
          </p:cNvPr>
          <p:cNvSpPr>
            <a:spLocks noGrp="1"/>
          </p:cNvSpPr>
          <p:nvPr/>
        </p:nvSpPr>
        <p:spPr>
          <a:xfrm>
            <a:off x="4362450" y="3867150"/>
            <a:ext cx="76200" cy="2019300"/>
          </a:xfrm>
          <a:prstGeom prst="roundRect">
            <a:avLst>
              <a:gd name="adj" fmla="val 50000"/>
            </a:avLst>
          </a:prstGeom>
          <a:solidFill>
            <a:srgbClr val="3267A8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6D51422-6F47-4065-A317-71EDE1069868}"/>
              </a:ext>
            </a:extLst>
          </p:cNvPr>
          <p:cNvSpPr>
            <a:spLocks noGrp="1"/>
          </p:cNvSpPr>
          <p:nvPr/>
        </p:nvSpPr>
        <p:spPr>
          <a:xfrm>
            <a:off x="4610100" y="40957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Slow visibility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AA98C3-293F-4C9C-8630-7E4EA8B6713E}"/>
              </a:ext>
            </a:extLst>
          </p:cNvPr>
          <p:cNvSpPr>
            <a:spLocks noGrp="1"/>
          </p:cNvSpPr>
          <p:nvPr/>
        </p:nvSpPr>
        <p:spPr>
          <a:xfrm>
            <a:off x="4610100" y="4495800"/>
            <a:ext cx="28765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CRM updates and weekly reporting arrive late and take manual effort.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6BF4425-7EF0-47B4-AE2D-5784F888EA12}"/>
              </a:ext>
            </a:extLst>
          </p:cNvPr>
          <p:cNvSpPr>
            <a:spLocks noGrp="1"/>
          </p:cNvSpPr>
          <p:nvPr/>
        </p:nvSpPr>
        <p:spPr>
          <a:xfrm>
            <a:off x="7943850" y="3867150"/>
            <a:ext cx="3333750" cy="20193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C296DA5-D9FD-40CF-AA3B-8080FDDED0B7}"/>
              </a:ext>
            </a:extLst>
          </p:cNvPr>
          <p:cNvSpPr>
            <a:spLocks noGrp="1"/>
          </p:cNvSpPr>
          <p:nvPr/>
        </p:nvSpPr>
        <p:spPr>
          <a:xfrm>
            <a:off x="7943850" y="3867150"/>
            <a:ext cx="76200" cy="2019300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71DBF7-E995-444F-9E21-4703CAE8BB54}"/>
              </a:ext>
            </a:extLst>
          </p:cNvPr>
          <p:cNvSpPr>
            <a:spLocks noGrp="1"/>
          </p:cNvSpPr>
          <p:nvPr/>
        </p:nvSpPr>
        <p:spPr>
          <a:xfrm>
            <a:off x="8191500" y="40957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Delayed follow-up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343F11B-EAD5-4D10-8580-73361D705485}"/>
              </a:ext>
            </a:extLst>
          </p:cNvPr>
          <p:cNvSpPr>
            <a:spLocks noGrp="1"/>
          </p:cNvSpPr>
          <p:nvPr/>
        </p:nvSpPr>
        <p:spPr>
          <a:xfrm>
            <a:off x="8191500" y="4495800"/>
            <a:ext cx="28765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Even qualified prospects wait while reps draft routine responses.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93AFDC-D042-4A75-8238-62AA894A3855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10972800" cy="9525"/>
          </a:xfrm>
          <a:prstGeom prst="rect">
            <a:avLst/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1CA876E-AA5D-47F0-8258-1F01ADE44DB5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AI SalesGenie • Oak &amp; Ember Interiors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3EA3C-C9C3-4C6E-A27A-C5814D800042}"/>
              </a:ext>
            </a:extLst>
          </p:cNvPr>
          <p:cNvSpPr>
            <a:spLocks noGrp="1"/>
          </p:cNvSpPr>
          <p:nvPr/>
        </p:nvSpPr>
        <p:spPr>
          <a:xfrm>
            <a:off x="11087100" y="6543675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0241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3554AF06-0B50-4ADF-A24F-439AD4804B92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17A65"/>
                </a:solidFill>
              </a:defRPr>
            </a:pPr>
            <a:r>
              <a:rPr sz="975" b="1">
                <a:solidFill>
                  <a:srgbClr val="117A65"/>
                </a:solidFill>
              </a:rPr>
              <a:t>SOLUTION DESIGN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9BA38F-B6E5-4771-A243-20E1309B1B6A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10972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2263A"/>
                </a:solidFill>
              </a:defRPr>
            </a:pPr>
            <a:r>
              <a:rPr sz="2700" b="1">
                <a:solidFill>
                  <a:srgbClr val="12263A"/>
                </a:solidFill>
              </a:rPr>
              <a:t>One flow qualifies, grounds, and drafts—another summarizes the week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29EBB7-2815-40F7-8D21-FF8875EE200B}"/>
              </a:ext>
            </a:extLst>
          </p:cNvPr>
          <p:cNvSpPr>
            <a:spLocks noGrp="1"/>
          </p:cNvSpPr>
          <p:nvPr/>
        </p:nvSpPr>
        <p:spPr>
          <a:xfrm>
            <a:off x="2019300" y="2600325"/>
            <a:ext cx="533400" cy="76200"/>
          </a:xfrm>
          <a:prstGeom prst="roundRect">
            <a:avLst>
              <a:gd name="adj" fmla="val 50000"/>
            </a:avLst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F26C48-4F32-460E-95D7-11784FCACC3D}"/>
              </a:ext>
            </a:extLst>
          </p:cNvPr>
          <p:cNvSpPr>
            <a:spLocks noGrp="1"/>
          </p:cNvSpPr>
          <p:nvPr/>
        </p:nvSpPr>
        <p:spPr>
          <a:xfrm>
            <a:off x="4019550" y="2600325"/>
            <a:ext cx="533400" cy="76200"/>
          </a:xfrm>
          <a:prstGeom prst="roundRect">
            <a:avLst>
              <a:gd name="adj" fmla="val 50000"/>
            </a:avLst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1A16CF1-0FC5-4548-B56C-4937BEDE8981}"/>
              </a:ext>
            </a:extLst>
          </p:cNvPr>
          <p:cNvSpPr>
            <a:spLocks noGrp="1"/>
          </p:cNvSpPr>
          <p:nvPr/>
        </p:nvSpPr>
        <p:spPr>
          <a:xfrm>
            <a:off x="6019800" y="2600325"/>
            <a:ext cx="533400" cy="76200"/>
          </a:xfrm>
          <a:prstGeom prst="roundRect">
            <a:avLst>
              <a:gd name="adj" fmla="val 50000"/>
            </a:avLst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A8BEC3-63E7-4EF0-AD19-D67BFBF3CE65}"/>
              </a:ext>
            </a:extLst>
          </p:cNvPr>
          <p:cNvSpPr>
            <a:spLocks noGrp="1"/>
          </p:cNvSpPr>
          <p:nvPr/>
        </p:nvSpPr>
        <p:spPr>
          <a:xfrm>
            <a:off x="8020050" y="2600325"/>
            <a:ext cx="533400" cy="76200"/>
          </a:xfrm>
          <a:prstGeom prst="roundRect">
            <a:avLst>
              <a:gd name="adj" fmla="val 50000"/>
            </a:avLst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F49E46-E10E-4A11-9C63-FB485E6CA343}"/>
              </a:ext>
            </a:extLst>
          </p:cNvPr>
          <p:cNvSpPr>
            <a:spLocks noGrp="1"/>
          </p:cNvSpPr>
          <p:nvPr/>
        </p:nvSpPr>
        <p:spPr>
          <a:xfrm>
            <a:off x="10020300" y="2600325"/>
            <a:ext cx="533400" cy="76200"/>
          </a:xfrm>
          <a:prstGeom prst="roundRect">
            <a:avLst>
              <a:gd name="adj" fmla="val 50000"/>
            </a:avLst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7598319-8115-480F-84F8-86A0C301BAF3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4097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0AB11A-0E10-4943-AC65-BB22DC36350B}"/>
              </a:ext>
            </a:extLst>
          </p:cNvPr>
          <p:cNvSpPr>
            <a:spLocks noGrp="1"/>
          </p:cNvSpPr>
          <p:nvPr/>
        </p:nvSpPr>
        <p:spPr>
          <a:xfrm>
            <a:off x="762000" y="2152650"/>
            <a:ext cx="323850" cy="323850"/>
          </a:xfrm>
          <a:prstGeom prst="ellipse">
            <a:avLst/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46D6-F9F4-4794-ACFE-2255C3ED3676}"/>
              </a:ext>
            </a:extLst>
          </p:cNvPr>
          <p:cNvSpPr>
            <a:spLocks noGrp="1"/>
          </p:cNvSpPr>
          <p:nvPr/>
        </p:nvSpPr>
        <p:spPr>
          <a:xfrm>
            <a:off x="762000" y="2219325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1F266C-6547-4E4A-9D92-11CF9ABEAA5E}"/>
              </a:ext>
            </a:extLst>
          </p:cNvPr>
          <p:cNvSpPr>
            <a:spLocks noGrp="1"/>
          </p:cNvSpPr>
          <p:nvPr/>
        </p:nvSpPr>
        <p:spPr>
          <a:xfrm>
            <a:off x="762000" y="261937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Inquiry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9816FB-8D32-4AA6-8501-F25D7A3344BA}"/>
              </a:ext>
            </a:extLst>
          </p:cNvPr>
          <p:cNvSpPr>
            <a:spLocks noGrp="1"/>
          </p:cNvSpPr>
          <p:nvPr/>
        </p:nvSpPr>
        <p:spPr>
          <a:xfrm>
            <a:off x="762000" y="2924175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Chat input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08D0F3D-F169-4C4D-8C9A-C1B989B6A03E}"/>
              </a:ext>
            </a:extLst>
          </p:cNvPr>
          <p:cNvSpPr>
            <a:spLocks noGrp="1"/>
          </p:cNvSpPr>
          <p:nvPr/>
        </p:nvSpPr>
        <p:spPr>
          <a:xfrm>
            <a:off x="2552700" y="1981200"/>
            <a:ext cx="14097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EF30A7C-48EB-46CF-96B5-BC030F5E326C}"/>
              </a:ext>
            </a:extLst>
          </p:cNvPr>
          <p:cNvSpPr>
            <a:spLocks noGrp="1"/>
          </p:cNvSpPr>
          <p:nvPr/>
        </p:nvSpPr>
        <p:spPr>
          <a:xfrm>
            <a:off x="2705100" y="2152650"/>
            <a:ext cx="323850" cy="323850"/>
          </a:xfrm>
          <a:prstGeom prst="ellipse">
            <a:avLst/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7DB77D-9014-4C2F-948B-17A130ACD567}"/>
              </a:ext>
            </a:extLst>
          </p:cNvPr>
          <p:cNvSpPr>
            <a:spLocks noGrp="1"/>
          </p:cNvSpPr>
          <p:nvPr/>
        </p:nvSpPr>
        <p:spPr>
          <a:xfrm>
            <a:off x="2705100" y="2219325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CF3A53-3FDD-4FA8-8172-9BF0A0AB383B}"/>
              </a:ext>
            </a:extLst>
          </p:cNvPr>
          <p:cNvSpPr>
            <a:spLocks noGrp="1"/>
          </p:cNvSpPr>
          <p:nvPr/>
        </p:nvSpPr>
        <p:spPr>
          <a:xfrm>
            <a:off x="2705100" y="261937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Extract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FE0580-F7CC-44D7-8E47-251A929B7F17}"/>
              </a:ext>
            </a:extLst>
          </p:cNvPr>
          <p:cNvSpPr>
            <a:spLocks noGrp="1"/>
          </p:cNvSpPr>
          <p:nvPr/>
        </p:nvSpPr>
        <p:spPr>
          <a:xfrm>
            <a:off x="2705100" y="2924175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Structured output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5309469-23E9-4324-840B-124788E294AA}"/>
              </a:ext>
            </a:extLst>
          </p:cNvPr>
          <p:cNvSpPr>
            <a:spLocks noGrp="1"/>
          </p:cNvSpPr>
          <p:nvPr/>
        </p:nvSpPr>
        <p:spPr>
          <a:xfrm>
            <a:off x="4552950" y="1981200"/>
            <a:ext cx="14097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AB6C30D-2E6B-4790-8DB8-D0934CA91839}"/>
              </a:ext>
            </a:extLst>
          </p:cNvPr>
          <p:cNvSpPr>
            <a:spLocks noGrp="1"/>
          </p:cNvSpPr>
          <p:nvPr/>
        </p:nvSpPr>
        <p:spPr>
          <a:xfrm>
            <a:off x="4705350" y="2152650"/>
            <a:ext cx="323850" cy="323850"/>
          </a:xfrm>
          <a:prstGeom prst="ellipse">
            <a:avLst/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143DF1-A763-4924-9974-787907031B6C}"/>
              </a:ext>
            </a:extLst>
          </p:cNvPr>
          <p:cNvSpPr>
            <a:spLocks noGrp="1"/>
          </p:cNvSpPr>
          <p:nvPr/>
        </p:nvSpPr>
        <p:spPr>
          <a:xfrm>
            <a:off x="4705350" y="2219325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FC03DA7-FA24-4362-8B43-437E25960900}"/>
              </a:ext>
            </a:extLst>
          </p:cNvPr>
          <p:cNvSpPr>
            <a:spLocks noGrp="1"/>
          </p:cNvSpPr>
          <p:nvPr/>
        </p:nvSpPr>
        <p:spPr>
          <a:xfrm>
            <a:off x="4705350" y="261937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Validate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088695-80A8-4333-953C-25C87C76F2C6}"/>
              </a:ext>
            </a:extLst>
          </p:cNvPr>
          <p:cNvSpPr>
            <a:spLocks noGrp="1"/>
          </p:cNvSpPr>
          <p:nvPr/>
        </p:nvSpPr>
        <p:spPr>
          <a:xfrm>
            <a:off x="4705350" y="2924175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Catalog guard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804CA8A-EFA8-4CDA-ADF0-2BBAD92165B9}"/>
              </a:ext>
            </a:extLst>
          </p:cNvPr>
          <p:cNvSpPr>
            <a:spLocks noGrp="1"/>
          </p:cNvSpPr>
          <p:nvPr/>
        </p:nvSpPr>
        <p:spPr>
          <a:xfrm>
            <a:off x="6553200" y="1981200"/>
            <a:ext cx="14097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9A01271-EB80-4734-8C71-F1EC1BA4940E}"/>
              </a:ext>
            </a:extLst>
          </p:cNvPr>
          <p:cNvSpPr>
            <a:spLocks noGrp="1"/>
          </p:cNvSpPr>
          <p:nvPr/>
        </p:nvSpPr>
        <p:spPr>
          <a:xfrm>
            <a:off x="6705600" y="2152650"/>
            <a:ext cx="323850" cy="323850"/>
          </a:xfrm>
          <a:prstGeom prst="ellipse">
            <a:avLst/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7BAD1B9-5BDD-434D-BB21-FDA3D60E75C5}"/>
              </a:ext>
            </a:extLst>
          </p:cNvPr>
          <p:cNvSpPr>
            <a:spLocks noGrp="1"/>
          </p:cNvSpPr>
          <p:nvPr/>
        </p:nvSpPr>
        <p:spPr>
          <a:xfrm>
            <a:off x="6705600" y="2219325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A9A447-8125-4E54-BF68-09113AD35300}"/>
              </a:ext>
            </a:extLst>
          </p:cNvPr>
          <p:cNvSpPr>
            <a:spLocks noGrp="1"/>
          </p:cNvSpPr>
          <p:nvPr/>
        </p:nvSpPr>
        <p:spPr>
          <a:xfrm>
            <a:off x="6705600" y="261937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Draft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91F4BF-8643-48BB-AB50-ED9427C5A1E5}"/>
              </a:ext>
            </a:extLst>
          </p:cNvPr>
          <p:cNvSpPr>
            <a:spLocks noGrp="1"/>
          </p:cNvSpPr>
          <p:nvPr/>
        </p:nvSpPr>
        <p:spPr>
          <a:xfrm>
            <a:off x="6705600" y="2924175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Follow-up model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05F8BB0-5262-4B99-A01B-28CA9FC038A9}"/>
              </a:ext>
            </a:extLst>
          </p:cNvPr>
          <p:cNvSpPr>
            <a:spLocks noGrp="1"/>
          </p:cNvSpPr>
          <p:nvPr/>
        </p:nvSpPr>
        <p:spPr>
          <a:xfrm>
            <a:off x="8553450" y="1981200"/>
            <a:ext cx="14097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2850608-A971-4976-A032-60418F91E510}"/>
              </a:ext>
            </a:extLst>
          </p:cNvPr>
          <p:cNvSpPr>
            <a:spLocks noGrp="1"/>
          </p:cNvSpPr>
          <p:nvPr/>
        </p:nvSpPr>
        <p:spPr>
          <a:xfrm>
            <a:off x="8705850" y="2152650"/>
            <a:ext cx="323850" cy="323850"/>
          </a:xfrm>
          <a:prstGeom prst="ellipse">
            <a:avLst/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1324741-74F5-41BE-983D-FA2CCE2A12D3}"/>
              </a:ext>
            </a:extLst>
          </p:cNvPr>
          <p:cNvSpPr>
            <a:spLocks noGrp="1"/>
          </p:cNvSpPr>
          <p:nvPr/>
        </p:nvSpPr>
        <p:spPr>
          <a:xfrm>
            <a:off x="8705850" y="2219325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95ED84-58A4-442B-A802-15587FCA9963}"/>
              </a:ext>
            </a:extLst>
          </p:cNvPr>
          <p:cNvSpPr>
            <a:spLocks noGrp="1"/>
          </p:cNvSpPr>
          <p:nvPr/>
        </p:nvSpPr>
        <p:spPr>
          <a:xfrm>
            <a:off x="8705850" y="261937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Review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4C4C353-9D05-4AE0-9B99-56386C57646C}"/>
              </a:ext>
            </a:extLst>
          </p:cNvPr>
          <p:cNvSpPr>
            <a:spLocks noGrp="1"/>
          </p:cNvSpPr>
          <p:nvPr/>
        </p:nvSpPr>
        <p:spPr>
          <a:xfrm>
            <a:off x="8705850" y="2924175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Chat output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5FDE208-8195-4884-A036-ADAFE4C5546C}"/>
              </a:ext>
            </a:extLst>
          </p:cNvPr>
          <p:cNvSpPr>
            <a:spLocks noGrp="1"/>
          </p:cNvSpPr>
          <p:nvPr/>
        </p:nvSpPr>
        <p:spPr>
          <a:xfrm>
            <a:off x="10553700" y="1981200"/>
            <a:ext cx="14097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87DBBC7-9111-4F68-9389-9FE4A3348D20}"/>
              </a:ext>
            </a:extLst>
          </p:cNvPr>
          <p:cNvSpPr>
            <a:spLocks noGrp="1"/>
          </p:cNvSpPr>
          <p:nvPr/>
        </p:nvSpPr>
        <p:spPr>
          <a:xfrm>
            <a:off x="10706100" y="2152650"/>
            <a:ext cx="323850" cy="323850"/>
          </a:xfrm>
          <a:prstGeom prst="ellipse">
            <a:avLst/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1BAB3AC-289B-4009-A18C-EC71E110CFE6}"/>
              </a:ext>
            </a:extLst>
          </p:cNvPr>
          <p:cNvSpPr>
            <a:spLocks noGrp="1"/>
          </p:cNvSpPr>
          <p:nvPr/>
        </p:nvSpPr>
        <p:spPr>
          <a:xfrm>
            <a:off x="10706100" y="2219325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DF8EF24-FC50-4CCD-9B73-1703C3B4828E}"/>
              </a:ext>
            </a:extLst>
          </p:cNvPr>
          <p:cNvSpPr>
            <a:spLocks noGrp="1"/>
          </p:cNvSpPr>
          <p:nvPr/>
        </p:nvSpPr>
        <p:spPr>
          <a:xfrm>
            <a:off x="10706100" y="261937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Act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7413DB6-1491-4CFE-94F4-3A14E3B438A1}"/>
              </a:ext>
            </a:extLst>
          </p:cNvPr>
          <p:cNvSpPr>
            <a:spLocks noGrp="1"/>
          </p:cNvSpPr>
          <p:nvPr/>
        </p:nvSpPr>
        <p:spPr>
          <a:xfrm>
            <a:off x="10706100" y="2924175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Rep / CRM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D2FA46B-F5A7-4619-8440-624FF43017FD}"/>
              </a:ext>
            </a:extLst>
          </p:cNvPr>
          <p:cNvSpPr>
            <a:spLocks noGrp="1"/>
          </p:cNvSpPr>
          <p:nvPr/>
        </p:nvSpPr>
        <p:spPr>
          <a:xfrm>
            <a:off x="1257300" y="4095750"/>
            <a:ext cx="9677400" cy="1371600"/>
          </a:xfrm>
          <a:prstGeom prst="roundRect">
            <a:avLst>
              <a:gd name="adj" fmla="val 11111"/>
            </a:avLst>
          </a:prstGeom>
          <a:solidFill>
            <a:srgbClr val="EAF2F5"/>
          </a:solidFill>
          <a:ln w="0">
            <a:noFill/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2FC4FC0-7DE9-49AB-B30C-2DD2974C2632}"/>
              </a:ext>
            </a:extLst>
          </p:cNvPr>
          <p:cNvSpPr>
            <a:spLocks noGrp="1"/>
          </p:cNvSpPr>
          <p:nvPr/>
        </p:nvSpPr>
        <p:spPr>
          <a:xfrm>
            <a:off x="1600200" y="435292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2263A"/>
                </a:solidFill>
              </a:defRPr>
            </a:pPr>
            <a:r>
              <a:rPr sz="1575" b="1">
                <a:solidFill>
                  <a:srgbClr val="12263A"/>
                </a:solidFill>
              </a:rPr>
              <a:t>Weekly insight path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6078775-3563-40FD-B674-2EAFC225F464}"/>
              </a:ext>
            </a:extLst>
          </p:cNvPr>
          <p:cNvSpPr>
            <a:spLocks noGrp="1"/>
          </p:cNvSpPr>
          <p:nvPr/>
        </p:nvSpPr>
        <p:spPr>
          <a:xfrm>
            <a:off x="1600200" y="4810125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CRM lead CSV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49E31CD-F023-4149-B016-36879D23852A}"/>
              </a:ext>
            </a:extLst>
          </p:cNvPr>
          <p:cNvSpPr>
            <a:spLocks noGrp="1"/>
          </p:cNvSpPr>
          <p:nvPr/>
        </p:nvSpPr>
        <p:spPr>
          <a:xfrm>
            <a:off x="3209925" y="4772025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 b="1">
                <a:solidFill>
                  <a:srgbClr val="117A65"/>
                </a:solidFill>
              </a:defRPr>
            </a:pPr>
            <a:r>
              <a:rPr sz="1725" b="1">
                <a:solidFill>
                  <a:srgbClr val="117A65"/>
                </a:solidFill>
              </a:rPr>
              <a:t>→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46D6554-753B-419E-B9C1-A0F2F9532718}"/>
              </a:ext>
            </a:extLst>
          </p:cNvPr>
          <p:cNvSpPr>
            <a:spLocks noGrp="1"/>
          </p:cNvSpPr>
          <p:nvPr/>
        </p:nvSpPr>
        <p:spPr>
          <a:xfrm>
            <a:off x="3714750" y="4810125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Weekly Sales Aggregator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128BAC1-EDF1-438A-8746-E49DC66C429D}"/>
              </a:ext>
            </a:extLst>
          </p:cNvPr>
          <p:cNvSpPr>
            <a:spLocks noGrp="1"/>
          </p:cNvSpPr>
          <p:nvPr/>
        </p:nvSpPr>
        <p:spPr>
          <a:xfrm>
            <a:off x="6181725" y="4772025"/>
            <a:ext cx="38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 b="1">
                <a:solidFill>
                  <a:srgbClr val="117A65"/>
                </a:solidFill>
              </a:defRPr>
            </a:pPr>
            <a:r>
              <a:rPr sz="1725" b="1">
                <a:solidFill>
                  <a:srgbClr val="117A65"/>
                </a:solidFill>
              </a:rPr>
              <a:t>→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77BD05-CBB5-4722-BE8A-8978359259FC}"/>
              </a:ext>
            </a:extLst>
          </p:cNvPr>
          <p:cNvSpPr>
            <a:spLocks noGrp="1"/>
          </p:cNvSpPr>
          <p:nvPr/>
        </p:nvSpPr>
        <p:spPr>
          <a:xfrm>
            <a:off x="6705600" y="4810125"/>
            <a:ext cx="3486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Lead mix • categories • average budget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CDAF9C7-84E6-4590-82CA-DFD4FC34D7CD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10972800" cy="9525"/>
          </a:xfrm>
          <a:prstGeom prst="rect">
            <a:avLst/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2CF6290-258B-4043-92C5-0B3796D65C43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AI SalesGenie • Oak &amp; Ember Interiors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E9270E6-9F65-48E7-81CB-DF7CA6EBFC25}"/>
              </a:ext>
            </a:extLst>
          </p:cNvPr>
          <p:cNvSpPr>
            <a:spLocks noGrp="1"/>
          </p:cNvSpPr>
          <p:nvPr/>
        </p:nvSpPr>
        <p:spPr>
          <a:xfrm>
            <a:off x="11087100" y="6543675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2939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51EE172B-617E-4B98-B7A7-072454FC4CF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17A65"/>
                </a:solidFill>
              </a:defRPr>
            </a:pPr>
            <a:r>
              <a:rPr sz="975" b="1">
                <a:solidFill>
                  <a:srgbClr val="117A65"/>
                </a:solidFill>
              </a:rPr>
              <a:t>WORKFLOW IN ACTION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107A5-675F-4D6D-8E93-00991CE2D5C9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10972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2263A"/>
                </a:solidFill>
              </a:defRPr>
            </a:pPr>
            <a:r>
              <a:rPr sz="2700" b="1">
                <a:solidFill>
                  <a:srgbClr val="12263A"/>
                </a:solidFill>
              </a:rPr>
              <a:t>A standing-desk inquiry becomes a catalog-safe answer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FC6723-A886-48C3-96C2-DF0EE30E3E2B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Test T1: home-office desk, dark walnut preference, total budget $800.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7BD68C4-663F-4880-A827-5C77DCE3B525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6667500" cy="428625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10768" y="1866900"/>
            <a:ext cx="4265164" cy="398145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053B0B-5AE5-4982-84AB-C0264A28837D}"/>
              </a:ext>
            </a:extLst>
          </p:cNvPr>
          <p:cNvSpPr>
            <a:spLocks noGrp="1"/>
          </p:cNvSpPr>
          <p:nvPr/>
        </p:nvSpPr>
        <p:spPr>
          <a:xfrm>
            <a:off x="7600950" y="1714500"/>
            <a:ext cx="367665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CD389C-AC10-40EB-BD09-DB8FA2470BB1}"/>
              </a:ext>
            </a:extLst>
          </p:cNvPr>
          <p:cNvSpPr>
            <a:spLocks noGrp="1"/>
          </p:cNvSpPr>
          <p:nvPr/>
        </p:nvSpPr>
        <p:spPr>
          <a:xfrm>
            <a:off x="7600950" y="1714500"/>
            <a:ext cx="76200" cy="1200150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4FED3A-6546-4D89-96CF-E3EBE88E4F41}"/>
              </a:ext>
            </a:extLst>
          </p:cNvPr>
          <p:cNvSpPr>
            <a:spLocks noGrp="1"/>
          </p:cNvSpPr>
          <p:nvPr/>
        </p:nvSpPr>
        <p:spPr>
          <a:xfrm>
            <a:off x="7848600" y="1943100"/>
            <a:ext cx="3219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P002 • $749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A30004-0010-4BC7-9B37-F8B4689C5F80}"/>
              </a:ext>
            </a:extLst>
          </p:cNvPr>
          <p:cNvSpPr>
            <a:spLocks noGrp="1"/>
          </p:cNvSpPr>
          <p:nvPr/>
        </p:nvSpPr>
        <p:spPr>
          <a:xfrm>
            <a:off x="7848600" y="2343150"/>
            <a:ext cx="3219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Adjustable Standing Desk Pro retained.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1E3A96-D44C-4E38-A2DE-DCA4BC056231}"/>
              </a:ext>
            </a:extLst>
          </p:cNvPr>
          <p:cNvSpPr>
            <a:spLocks noGrp="1"/>
          </p:cNvSpPr>
          <p:nvPr/>
        </p:nvSpPr>
        <p:spPr>
          <a:xfrm>
            <a:off x="7600950" y="3086100"/>
            <a:ext cx="367665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520175-3FF7-4C45-BDF8-A57DEF2C87D6}"/>
              </a:ext>
            </a:extLst>
          </p:cNvPr>
          <p:cNvSpPr>
            <a:spLocks noGrp="1"/>
          </p:cNvSpPr>
          <p:nvPr/>
        </p:nvSpPr>
        <p:spPr>
          <a:xfrm>
            <a:off x="7600950" y="3086100"/>
            <a:ext cx="76200" cy="1200150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200B56-2CE9-43FB-8CAD-0AD7AB8013A4}"/>
              </a:ext>
            </a:extLst>
          </p:cNvPr>
          <p:cNvSpPr>
            <a:spLocks noGrp="1"/>
          </p:cNvSpPr>
          <p:nvPr/>
        </p:nvSpPr>
        <p:spPr>
          <a:xfrm>
            <a:off x="7848600" y="3314700"/>
            <a:ext cx="3219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P003 • $449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D6160E-BAE5-4023-B393-CA2EBA8DE082}"/>
              </a:ext>
            </a:extLst>
          </p:cNvPr>
          <p:cNvSpPr>
            <a:spLocks noGrp="1"/>
          </p:cNvSpPr>
          <p:nvPr/>
        </p:nvSpPr>
        <p:spPr>
          <a:xfrm>
            <a:off x="7848600" y="3714750"/>
            <a:ext cx="3219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Adjustable Standing Desk Basic retained.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5923CF-EAB5-4265-A1A1-C4EE992F0F4B}"/>
              </a:ext>
            </a:extLst>
          </p:cNvPr>
          <p:cNvSpPr>
            <a:spLocks noGrp="1"/>
          </p:cNvSpPr>
          <p:nvPr/>
        </p:nvSpPr>
        <p:spPr>
          <a:xfrm>
            <a:off x="7600950" y="4457700"/>
            <a:ext cx="367665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B64F07D-8C69-463F-928E-1990A76C8848}"/>
              </a:ext>
            </a:extLst>
          </p:cNvPr>
          <p:cNvSpPr>
            <a:spLocks noGrp="1"/>
          </p:cNvSpPr>
          <p:nvPr/>
        </p:nvSpPr>
        <p:spPr>
          <a:xfrm>
            <a:off x="7600950" y="4457700"/>
            <a:ext cx="76200" cy="1543050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4B06E29-0264-4BB3-8B83-7C72BDD2D126}"/>
              </a:ext>
            </a:extLst>
          </p:cNvPr>
          <p:cNvSpPr>
            <a:spLocks noGrp="1"/>
          </p:cNvSpPr>
          <p:nvPr/>
        </p:nvSpPr>
        <p:spPr>
          <a:xfrm>
            <a:off x="7848600" y="4686300"/>
            <a:ext cx="3219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P004 • $899 rejected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C5120E-149B-4723-B3FF-BE47EFEC8810}"/>
              </a:ext>
            </a:extLst>
          </p:cNvPr>
          <p:cNvSpPr>
            <a:spLocks noGrp="1"/>
          </p:cNvSpPr>
          <p:nvPr/>
        </p:nvSpPr>
        <p:spPr>
          <a:xfrm>
            <a:off x="7848600" y="5086350"/>
            <a:ext cx="3219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The guard enforced the $800 budget and surfaced that dark walnut was not confirmed for retained desks.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FBFC66-6223-4C55-9037-353BA28FC4B1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10972800" cy="9525"/>
          </a:xfrm>
          <a:prstGeom prst="rect">
            <a:avLst/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8BC09D-46BD-4614-A8D9-DE229C5C7B1C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AI SalesGenie • Oak &amp; Ember Interiors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00CB1F-FFF4-4832-85FA-A6F663958FF7}"/>
              </a:ext>
            </a:extLst>
          </p:cNvPr>
          <p:cNvSpPr>
            <a:spLocks noGrp="1"/>
          </p:cNvSpPr>
          <p:nvPr/>
        </p:nvSpPr>
        <p:spPr>
          <a:xfrm>
            <a:off x="11087100" y="6543675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64975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3774DD80-BBBE-4117-BACF-11D477AEF76B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17A65"/>
                </a:solidFill>
              </a:defRPr>
            </a:pPr>
            <a:r>
              <a:rPr sz="975" b="1">
                <a:solidFill>
                  <a:srgbClr val="117A65"/>
                </a:solidFill>
              </a:rPr>
              <a:t>TRUST LAYER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5FBFB2-5E52-40F4-9520-C9BB6AE7D2D3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10972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2263A"/>
                </a:solidFill>
              </a:defRPr>
            </a:pPr>
            <a:r>
              <a:rPr sz="2700" b="1">
                <a:solidFill>
                  <a:srgbClr val="12263A"/>
                </a:solidFill>
              </a:rPr>
              <a:t>The catalog guard turns model suggestions into deterministic output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2F80B0-65FD-489D-8A48-6B7BC4B7DF2B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LLM interprets intent; code enforces the business rules.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E2B961-7460-4755-8D1B-1089BCF77AF3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565785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B847D4E-F55C-42F2-B96A-9C789F907413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457200" cy="457200"/>
          </a:xfrm>
          <a:prstGeom prst="ellipse">
            <a:avLst/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1FE233-724D-4C16-A0D8-4F6D78886A23}"/>
              </a:ext>
            </a:extLst>
          </p:cNvPr>
          <p:cNvSpPr>
            <a:spLocks noGrp="1"/>
          </p:cNvSpPr>
          <p:nvPr/>
        </p:nvSpPr>
        <p:spPr>
          <a:xfrm>
            <a:off x="800100" y="2124075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3A0D19-E3B4-4D68-87ED-02623776353F}"/>
              </a:ext>
            </a:extLst>
          </p:cNvPr>
          <p:cNvSpPr>
            <a:spLocks noGrp="1"/>
          </p:cNvSpPr>
          <p:nvPr/>
        </p:nvSpPr>
        <p:spPr>
          <a:xfrm>
            <a:off x="1447800" y="1990725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2263A"/>
                </a:solidFill>
              </a:defRPr>
            </a:pPr>
            <a:r>
              <a:rPr sz="1500" b="1">
                <a:solidFill>
                  <a:srgbClr val="12263A"/>
                </a:solidFill>
              </a:rPr>
              <a:t>Product identity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44D6AA-DBAF-4E26-A45F-19A9979103CA}"/>
              </a:ext>
            </a:extLst>
          </p:cNvPr>
          <p:cNvSpPr>
            <a:spLocks noGrp="1"/>
          </p:cNvSpPr>
          <p:nvPr/>
        </p:nvSpPr>
        <p:spPr>
          <a:xfrm>
            <a:off x="1447800" y="2286000"/>
            <a:ext cx="4381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Reject IDs or names absent from the catalog.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72D88A-E7DC-4E1D-968B-A6B4660C6313}"/>
              </a:ext>
            </a:extLst>
          </p:cNvPr>
          <p:cNvSpPr>
            <a:spLocks noGrp="1"/>
          </p:cNvSpPr>
          <p:nvPr/>
        </p:nvSpPr>
        <p:spPr>
          <a:xfrm>
            <a:off x="609600" y="2857500"/>
            <a:ext cx="565785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6090F54-7BED-4A77-AB9D-82AD228C2EFA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457200" cy="457200"/>
          </a:xfrm>
          <a:prstGeom prst="ellipse">
            <a:avLst/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B53FA8-383E-470E-8D48-F5FB74F50D62}"/>
              </a:ext>
            </a:extLst>
          </p:cNvPr>
          <p:cNvSpPr>
            <a:spLocks noGrp="1"/>
          </p:cNvSpPr>
          <p:nvPr/>
        </p:nvSpPr>
        <p:spPr>
          <a:xfrm>
            <a:off x="800100" y="3152775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59C617-C66D-4AFC-A89E-E9A0CF26AAB3}"/>
              </a:ext>
            </a:extLst>
          </p:cNvPr>
          <p:cNvSpPr>
            <a:spLocks noGrp="1"/>
          </p:cNvSpPr>
          <p:nvPr/>
        </p:nvSpPr>
        <p:spPr>
          <a:xfrm>
            <a:off x="1447800" y="3019425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2263A"/>
                </a:solidFill>
              </a:defRPr>
            </a:pPr>
            <a:r>
              <a:rPr sz="1500" b="1">
                <a:solidFill>
                  <a:srgbClr val="12263A"/>
                </a:solidFill>
              </a:rPr>
              <a:t>Price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D401D1-D524-46B5-B861-814BB5ACD1E9}"/>
              </a:ext>
            </a:extLst>
          </p:cNvPr>
          <p:cNvSpPr>
            <a:spLocks noGrp="1"/>
          </p:cNvSpPr>
          <p:nvPr/>
        </p:nvSpPr>
        <p:spPr>
          <a:xfrm>
            <a:off x="1447800" y="3314700"/>
            <a:ext cx="4381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Remove products above total or per-unit budget.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E5B52F1-FD88-49FD-8F61-04253C5C07EE}"/>
              </a:ext>
            </a:extLst>
          </p:cNvPr>
          <p:cNvSpPr>
            <a:spLocks noGrp="1"/>
          </p:cNvSpPr>
          <p:nvPr/>
        </p:nvSpPr>
        <p:spPr>
          <a:xfrm>
            <a:off x="609600" y="3886200"/>
            <a:ext cx="565785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CB834B-4B84-49D7-8610-CB52CA1BC7F9}"/>
              </a:ext>
            </a:extLst>
          </p:cNvPr>
          <p:cNvSpPr>
            <a:spLocks noGrp="1"/>
          </p:cNvSpPr>
          <p:nvPr/>
        </p:nvSpPr>
        <p:spPr>
          <a:xfrm>
            <a:off x="800100" y="4076700"/>
            <a:ext cx="457200" cy="457200"/>
          </a:xfrm>
          <a:prstGeom prst="ellipse">
            <a:avLst/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E919E6-174F-427A-AC08-4FDC79333CF3}"/>
              </a:ext>
            </a:extLst>
          </p:cNvPr>
          <p:cNvSpPr>
            <a:spLocks noGrp="1"/>
          </p:cNvSpPr>
          <p:nvPr/>
        </p:nvSpPr>
        <p:spPr>
          <a:xfrm>
            <a:off x="800100" y="4181475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3B952C-D31C-42F8-B366-3F68DE693174}"/>
              </a:ext>
            </a:extLst>
          </p:cNvPr>
          <p:cNvSpPr>
            <a:spLocks noGrp="1"/>
          </p:cNvSpPr>
          <p:nvPr/>
        </p:nvSpPr>
        <p:spPr>
          <a:xfrm>
            <a:off x="1447800" y="4048125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2263A"/>
                </a:solidFill>
              </a:defRPr>
            </a:pPr>
            <a:r>
              <a:rPr sz="1500" b="1">
                <a:solidFill>
                  <a:srgbClr val="12263A"/>
                </a:solidFill>
              </a:rPr>
              <a:t>Availability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E75191-D9A9-44A6-9668-BB23A5974B40}"/>
              </a:ext>
            </a:extLst>
          </p:cNvPr>
          <p:cNvSpPr>
            <a:spLocks noGrp="1"/>
          </p:cNvSpPr>
          <p:nvPr/>
        </p:nvSpPr>
        <p:spPr>
          <a:xfrm>
            <a:off x="1447800" y="4343400"/>
            <a:ext cx="4381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Do not recommend out-of-stock items.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E4063C4-0D94-4F3F-B497-D008E633AA49}"/>
              </a:ext>
            </a:extLst>
          </p:cNvPr>
          <p:cNvSpPr>
            <a:spLocks noGrp="1"/>
          </p:cNvSpPr>
          <p:nvPr/>
        </p:nvSpPr>
        <p:spPr>
          <a:xfrm>
            <a:off x="609600" y="4914900"/>
            <a:ext cx="565785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C852FF5-F8DB-4996-99B2-34E135BBEC8D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57200" cy="457200"/>
          </a:xfrm>
          <a:prstGeom prst="ellipse">
            <a:avLst/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F3C72-EC90-431D-8F1F-7DCE95C7B1F2}"/>
              </a:ext>
            </a:extLst>
          </p:cNvPr>
          <p:cNvSpPr>
            <a:spLocks noGrp="1"/>
          </p:cNvSpPr>
          <p:nvPr/>
        </p:nvSpPr>
        <p:spPr>
          <a:xfrm>
            <a:off x="800100" y="5210175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0232FD7-F746-44D1-8E0F-5424BEE51EC3}"/>
              </a:ext>
            </a:extLst>
          </p:cNvPr>
          <p:cNvSpPr>
            <a:spLocks noGrp="1"/>
          </p:cNvSpPr>
          <p:nvPr/>
        </p:nvSpPr>
        <p:spPr>
          <a:xfrm>
            <a:off x="1447800" y="5076825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2263A"/>
                </a:solidFill>
              </a:defRPr>
            </a:pPr>
            <a:r>
              <a:rPr sz="1500" b="1">
                <a:solidFill>
                  <a:srgbClr val="12263A"/>
                </a:solidFill>
              </a:rPr>
              <a:t>Claims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EF2393-4CB4-4FE6-86F9-A44532B7B54D}"/>
              </a:ext>
            </a:extLst>
          </p:cNvPr>
          <p:cNvSpPr>
            <a:spLocks noGrp="1"/>
          </p:cNvSpPr>
          <p:nvPr/>
        </p:nvSpPr>
        <p:spPr>
          <a:xfrm>
            <a:off x="1447800" y="5372100"/>
            <a:ext cx="4381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Use catalog descriptions and state unconfirmed constraints.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E947E6D-A9DF-40E6-87CD-F7B4CE620230}"/>
              </a:ext>
            </a:extLst>
          </p:cNvPr>
          <p:cNvSpPr>
            <a:spLocks noGrp="1"/>
          </p:cNvSpPr>
          <p:nvPr/>
        </p:nvSpPr>
        <p:spPr>
          <a:xfrm>
            <a:off x="6705600" y="1828800"/>
            <a:ext cx="4572000" cy="3962400"/>
          </a:xfrm>
          <a:prstGeom prst="roundRect">
            <a:avLst>
              <a:gd name="adj" fmla="val 3846"/>
            </a:avLst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4CF78A-6C19-44BA-A320-743D8657BE2D}"/>
              </a:ext>
            </a:extLst>
          </p:cNvPr>
          <p:cNvSpPr>
            <a:spLocks noGrp="1"/>
          </p:cNvSpPr>
          <p:nvPr/>
        </p:nvSpPr>
        <p:spPr>
          <a:xfrm>
            <a:off x="7086600" y="2171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9B6EE1-3B73-42CB-B006-FB20E0F4B79F}"/>
              </a:ext>
            </a:extLst>
          </p:cNvPr>
          <p:cNvSpPr>
            <a:spLocks noGrp="1"/>
          </p:cNvSpPr>
          <p:nvPr/>
        </p:nvSpPr>
        <p:spPr>
          <a:xfrm>
            <a:off x="7086600" y="28194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8FD5C3"/>
                </a:solidFill>
              </a:defRPr>
            </a:pPr>
            <a:r>
              <a:rPr sz="1275" b="1">
                <a:solidFill>
                  <a:srgbClr val="8FD5C3"/>
                </a:solidFill>
              </a:rPr>
              <a:t>Grounding is measurable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4A5D18-1FEC-4243-BED7-F91A5218DA7E}"/>
              </a:ext>
            </a:extLst>
          </p:cNvPr>
          <p:cNvSpPr>
            <a:spLocks noGrp="1"/>
          </p:cNvSpPr>
          <p:nvPr/>
        </p:nvSpPr>
        <p:spPr>
          <a:xfrm>
            <a:off x="7086600" y="3143250"/>
            <a:ext cx="342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D7E5EA"/>
                </a:solidFill>
              </a:defRPr>
            </a:pPr>
            <a:r>
              <a:rPr sz="1350" b="0">
                <a:solidFill>
                  <a:srgbClr val="D7E5EA"/>
                </a:solidFill>
              </a:rPr>
              <a:t>Every retained recommendation has an exact catalog row.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DCD3C7-0655-4531-BCD3-5C8439EB2D7C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F3C866"/>
                </a:solidFill>
              </a:defRPr>
            </a:pPr>
            <a:r>
              <a:rPr sz="1275" b="1">
                <a:solidFill>
                  <a:srgbClr val="F3C866"/>
                </a:solidFill>
              </a:rPr>
              <a:t>Failures are explainable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AADD20-0177-4AB5-8222-BA0B5164B665}"/>
              </a:ext>
            </a:extLst>
          </p:cNvPr>
          <p:cNvSpPr>
            <a:spLocks noGrp="1"/>
          </p:cNvSpPr>
          <p:nvPr/>
        </p:nvSpPr>
        <p:spPr>
          <a:xfrm>
            <a:off x="7086600" y="4210050"/>
            <a:ext cx="342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D7E5EA"/>
                </a:solidFill>
              </a:defRPr>
            </a:pPr>
            <a:r>
              <a:rPr sz="1350" b="0">
                <a:solidFill>
                  <a:srgbClr val="D7E5EA"/>
                </a:solidFill>
              </a:rPr>
              <a:t>Rejections name the product and the rule that blocked it.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C6C1744-2605-4825-A5B5-F1A9A5FF1122}"/>
              </a:ext>
            </a:extLst>
          </p:cNvPr>
          <p:cNvSpPr>
            <a:spLocks noGrp="1"/>
          </p:cNvSpPr>
          <p:nvPr/>
        </p:nvSpPr>
        <p:spPr>
          <a:xfrm>
            <a:off x="7086600" y="4953000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F29C86"/>
                </a:solidFill>
              </a:defRPr>
            </a:pPr>
            <a:r>
              <a:rPr sz="1275" b="1">
                <a:solidFill>
                  <a:srgbClr val="F29C86"/>
                </a:solidFill>
              </a:rPr>
              <a:t>Human review stays in control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16176E-6855-4751-880F-217F1BEEA895}"/>
              </a:ext>
            </a:extLst>
          </p:cNvPr>
          <p:cNvSpPr>
            <a:spLocks noGrp="1"/>
          </p:cNvSpPr>
          <p:nvPr/>
        </p:nvSpPr>
        <p:spPr>
          <a:xfrm>
            <a:off x="7086600" y="5276850"/>
            <a:ext cx="3619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D7E5EA"/>
                </a:solidFill>
              </a:defRPr>
            </a:pPr>
            <a:r>
              <a:rPr sz="1350" b="0">
                <a:solidFill>
                  <a:srgbClr val="D7E5EA"/>
                </a:solidFill>
              </a:rPr>
              <a:t>Drafts are produced for review; they are not sent automatically.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378121-A79B-4648-8D4B-4CE4F614E28B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10972800" cy="9525"/>
          </a:xfrm>
          <a:prstGeom prst="rect">
            <a:avLst/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232ECA8-1794-480F-B4A4-E778C7396009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AI SalesGenie • Oak &amp; Ember Interiors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E6ABF1-0136-486D-945B-1D15A12760F1}"/>
              </a:ext>
            </a:extLst>
          </p:cNvPr>
          <p:cNvSpPr>
            <a:spLocks noGrp="1"/>
          </p:cNvSpPr>
          <p:nvPr/>
        </p:nvSpPr>
        <p:spPr>
          <a:xfrm>
            <a:off x="11087100" y="6543675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53966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181A8443-F9F9-4959-9215-DA382C0842F0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17A65"/>
                </a:solidFill>
              </a:defRPr>
            </a:pPr>
            <a:r>
              <a:rPr sz="975" b="1">
                <a:solidFill>
                  <a:srgbClr val="117A65"/>
                </a:solidFill>
              </a:rPr>
              <a:t>EXTENDED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A0E8A6-3299-47BA-8C8F-978257803FE2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10972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2263A"/>
                </a:solidFill>
              </a:defRPr>
            </a:pPr>
            <a:r>
              <a:rPr sz="2700" b="1">
                <a:solidFill>
                  <a:srgbClr val="12263A"/>
                </a:solidFill>
              </a:rPr>
              <a:t>Personalized follow-up drafting closes the response-time gap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46B94-47B7-4E97-9A6F-017C6419A050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validated record and original inquiry are converted into a review-ready email.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D898AE-6BF1-4831-824F-39C79CD07FA5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7029450" cy="428625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61193" y="1885950"/>
            <a:ext cx="4326264" cy="398145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0A7729-CBAC-4527-B548-0D2A14A9EB24}"/>
              </a:ext>
            </a:extLst>
          </p:cNvPr>
          <p:cNvSpPr>
            <a:spLocks noGrp="1"/>
          </p:cNvSpPr>
          <p:nvPr/>
        </p:nvSpPr>
        <p:spPr>
          <a:xfrm>
            <a:off x="7962900" y="1733550"/>
            <a:ext cx="33147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4A59E68-F189-4519-A184-F9C3CB61C762}"/>
              </a:ext>
            </a:extLst>
          </p:cNvPr>
          <p:cNvSpPr>
            <a:spLocks noGrp="1"/>
          </p:cNvSpPr>
          <p:nvPr/>
        </p:nvSpPr>
        <p:spPr>
          <a:xfrm>
            <a:off x="7962900" y="1733550"/>
            <a:ext cx="76200" cy="1200150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757CA3-B5B0-4CB0-A56F-369959D9B1C3}"/>
              </a:ext>
            </a:extLst>
          </p:cNvPr>
          <p:cNvSpPr>
            <a:spLocks noGrp="1"/>
          </p:cNvSpPr>
          <p:nvPr/>
        </p:nvSpPr>
        <p:spPr>
          <a:xfrm>
            <a:off x="8210550" y="19621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Personalized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F41595-4F00-432A-B62C-EF85559DC343}"/>
              </a:ext>
            </a:extLst>
          </p:cNvPr>
          <p:cNvSpPr>
            <a:spLocks noGrp="1"/>
          </p:cNvSpPr>
          <p:nvPr/>
        </p:nvSpPr>
        <p:spPr>
          <a:xfrm>
            <a:off x="8210550" y="23622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Uses customer context, budget, products, prices, and stock.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A1505CA-7AC8-4FE7-8791-72B776BA7706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33147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AEABB99-9263-4B10-AD70-EC0E898068F5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76200" cy="1200150"/>
          </a:xfrm>
          <a:prstGeom prst="roundRect">
            <a:avLst>
              <a:gd name="adj" fmla="val 50000"/>
            </a:avLst>
          </a:prstGeom>
          <a:solidFill>
            <a:srgbClr val="E3A72F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5972AD-8700-41E1-95B3-0A65FAA7441F}"/>
              </a:ext>
            </a:extLst>
          </p:cNvPr>
          <p:cNvSpPr>
            <a:spLocks noGrp="1"/>
          </p:cNvSpPr>
          <p:nvPr/>
        </p:nvSpPr>
        <p:spPr>
          <a:xfrm>
            <a:off x="8210550" y="33337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Grounded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DB65A8-8EBA-4DCE-A17C-742052837BF2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Mentions only products and limitations passed by the catalog guard.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4F82F3-AC3A-4FFE-9F73-D7B9F91F4744}"/>
              </a:ext>
            </a:extLst>
          </p:cNvPr>
          <p:cNvSpPr>
            <a:spLocks noGrp="1"/>
          </p:cNvSpPr>
          <p:nvPr/>
        </p:nvSpPr>
        <p:spPr>
          <a:xfrm>
            <a:off x="7962900" y="4476750"/>
            <a:ext cx="3314700" cy="15430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90E3331-5DDC-43ED-9D03-C41978884D6F}"/>
              </a:ext>
            </a:extLst>
          </p:cNvPr>
          <p:cNvSpPr>
            <a:spLocks noGrp="1"/>
          </p:cNvSpPr>
          <p:nvPr/>
        </p:nvSpPr>
        <p:spPr>
          <a:xfrm>
            <a:off x="7962900" y="4476750"/>
            <a:ext cx="76200" cy="1543050"/>
          </a:xfrm>
          <a:prstGeom prst="roundRect">
            <a:avLst>
              <a:gd name="adj" fmla="val 50000"/>
            </a:avLst>
          </a:prstGeom>
          <a:solidFill>
            <a:srgbClr val="3267A8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1F0670-EEF4-46BF-B7FD-F1D27113D297}"/>
              </a:ext>
            </a:extLst>
          </p:cNvPr>
          <p:cNvSpPr>
            <a:spLocks noGrp="1"/>
          </p:cNvSpPr>
          <p:nvPr/>
        </p:nvSpPr>
        <p:spPr>
          <a:xfrm>
            <a:off x="8210550" y="47053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Actionable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59C457-272D-4D11-BC14-4B7715323861}"/>
              </a:ext>
            </a:extLst>
          </p:cNvPr>
          <p:cNvSpPr>
            <a:spLocks noGrp="1"/>
          </p:cNvSpPr>
          <p:nvPr/>
        </p:nvSpPr>
        <p:spPr>
          <a:xfrm>
            <a:off x="8210550" y="510540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Includes a clear next step and remains a draft for sales review.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929F3DA-D475-4DF2-BA53-08DA8B83707D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10972800" cy="9525"/>
          </a:xfrm>
          <a:prstGeom prst="rect">
            <a:avLst/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4B730F-F590-4161-BC31-75CCA615F7D4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AI SalesGenie • Oak &amp; Ember Interiors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86C249-E210-4B32-91A3-AB6E3C92976D}"/>
              </a:ext>
            </a:extLst>
          </p:cNvPr>
          <p:cNvSpPr>
            <a:spLocks noGrp="1"/>
          </p:cNvSpPr>
          <p:nvPr/>
        </p:nvSpPr>
        <p:spPr>
          <a:xfrm>
            <a:off x="11087100" y="6543675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54333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BD4A436-FDE6-4FDE-B6A7-D63C96832CB9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17A65"/>
                </a:solidFill>
              </a:defRPr>
            </a:pPr>
            <a:r>
              <a:rPr sz="975" b="1">
                <a:solidFill>
                  <a:srgbClr val="117A65"/>
                </a:solidFill>
              </a:rPr>
              <a:t>EVALUATION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A228E1-4051-46B2-940C-015E98C506B3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10972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2263A"/>
                </a:solidFill>
              </a:defRPr>
            </a:pPr>
            <a:r>
              <a:rPr sz="2700" b="1">
                <a:solidFill>
                  <a:srgbClr val="12263A"/>
                </a:solidFill>
              </a:rPr>
              <a:t>Eleven baseline scenarios passed with trace-level evidence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DD0799-48BE-4263-9022-695458225413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Langfuse connects outcomes to model calls, cost, latency, inputs, and outputs.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4869CD-AC9F-4BE1-82EA-AB3F147D4B62}"/>
              </a:ext>
            </a:extLst>
          </p:cNvPr>
          <p:cNvSpPr>
            <a:spLocks noGrp="1"/>
          </p:cNvSpPr>
          <p:nvPr/>
        </p:nvSpPr>
        <p:spPr>
          <a:xfrm>
            <a:off x="609600" y="1752600"/>
            <a:ext cx="4191000" cy="1714500"/>
          </a:xfrm>
          <a:prstGeom prst="roundRect">
            <a:avLst>
              <a:gd name="adj" fmla="val 8889"/>
            </a:avLst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6B2F91-097C-4CC3-8154-7C7B6A0AF319}"/>
              </a:ext>
            </a:extLst>
          </p:cNvPr>
          <p:cNvSpPr>
            <a:spLocks noGrp="1"/>
          </p:cNvSpPr>
          <p:nvPr/>
        </p:nvSpPr>
        <p:spPr>
          <a:xfrm>
            <a:off x="914400" y="2047875"/>
            <a:ext cx="3524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75" b="1">
                <a:solidFill>
                  <a:srgbClr val="FFFFFF"/>
                </a:solidFill>
              </a:defRPr>
            </a:pPr>
            <a:r>
              <a:rPr sz="3675" b="1">
                <a:solidFill>
                  <a:srgbClr val="FFFFFF"/>
                </a:solidFill>
              </a:rPr>
              <a:t>11 / 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75C207-1DB6-4AE7-85DE-70DBD437EFB0}"/>
              </a:ext>
            </a:extLst>
          </p:cNvPr>
          <p:cNvSpPr>
            <a:spLocks noGrp="1"/>
          </p:cNvSpPr>
          <p:nvPr/>
        </p:nvSpPr>
        <p:spPr>
          <a:xfrm>
            <a:off x="914400" y="27432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DDF3EA"/>
                </a:solidFill>
              </a:defRPr>
            </a:pPr>
            <a:r>
              <a:rPr sz="1650" b="1">
                <a:solidFill>
                  <a:srgbClr val="DDF3EA"/>
                </a:solidFill>
              </a:rPr>
              <a:t>baseline tests passed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79463A-68BE-4316-A83E-36B7A9507EC6}"/>
              </a:ext>
            </a:extLst>
          </p:cNvPr>
          <p:cNvSpPr>
            <a:spLocks noGrp="1"/>
          </p:cNvSpPr>
          <p:nvPr/>
        </p:nvSpPr>
        <p:spPr>
          <a:xfrm>
            <a:off x="914400" y="31051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DDF3EA"/>
                </a:solidFill>
              </a:defRPr>
            </a:pPr>
            <a:r>
              <a:rPr sz="1050" b="0">
                <a:solidFill>
                  <a:srgbClr val="DDF3EA"/>
                </a:solidFill>
              </a:rPr>
              <a:t>Covers recommendation, stock, comparison, vague, and spam cases.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510F27-070D-4274-86EE-3133D68A13EC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4191000" cy="2152650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589ED1-E8FF-4AA1-A4B4-8E1D841C2424}"/>
              </a:ext>
            </a:extLst>
          </p:cNvPr>
          <p:cNvSpPr>
            <a:spLocks noGrp="1"/>
          </p:cNvSpPr>
          <p:nvPr/>
        </p:nvSpPr>
        <p:spPr>
          <a:xfrm>
            <a:off x="876300" y="39624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2263A"/>
                </a:solidFill>
              </a:defRPr>
            </a:pPr>
            <a:r>
              <a:rPr sz="1500" b="1">
                <a:solidFill>
                  <a:srgbClr val="12263A"/>
                </a:solidFill>
              </a:rPr>
              <a:t>Representative T1 trace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B4DA7F-2409-4D7C-BE46-FEA51CE26D9D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1104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3,772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EDE1A1-C28D-4118-AA48-95F7CF356D28}"/>
              </a:ext>
            </a:extLst>
          </p:cNvPr>
          <p:cNvSpPr>
            <a:spLocks noGrp="1"/>
          </p:cNvSpPr>
          <p:nvPr/>
        </p:nvSpPr>
        <p:spPr>
          <a:xfrm>
            <a:off x="876300" y="4857750"/>
            <a:ext cx="1104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tokens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3F8078-CBFE-480B-A0E7-9AC4E10D149E}"/>
              </a:ext>
            </a:extLst>
          </p:cNvPr>
          <p:cNvSpPr>
            <a:spLocks noGrp="1"/>
          </p:cNvSpPr>
          <p:nvPr/>
        </p:nvSpPr>
        <p:spPr>
          <a:xfrm>
            <a:off x="2076450" y="4514850"/>
            <a:ext cx="1104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$0.000787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080413-73B7-4CF5-AF0A-DBCEA6F464F0}"/>
              </a:ext>
            </a:extLst>
          </p:cNvPr>
          <p:cNvSpPr>
            <a:spLocks noGrp="1"/>
          </p:cNvSpPr>
          <p:nvPr/>
        </p:nvSpPr>
        <p:spPr>
          <a:xfrm>
            <a:off x="2076450" y="4857750"/>
            <a:ext cx="1104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model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C5FDA-6944-444B-937F-957FB5322542}"/>
              </a:ext>
            </a:extLst>
          </p:cNvPr>
          <p:cNvSpPr>
            <a:spLocks noGrp="1"/>
          </p:cNvSpPr>
          <p:nvPr/>
        </p:nvSpPr>
        <p:spPr>
          <a:xfrm>
            <a:off x="3276600" y="4514850"/>
            <a:ext cx="1104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12263A"/>
                </a:solidFill>
              </a:defRPr>
            </a:pPr>
            <a:r>
              <a:rPr sz="1425" b="1">
                <a:solidFill>
                  <a:srgbClr val="12263A"/>
                </a:solidFill>
              </a:rPr>
              <a:t>6.40 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1944A9-4C20-40D7-A62A-7F834EC7B4A2}"/>
              </a:ext>
            </a:extLst>
          </p:cNvPr>
          <p:cNvSpPr>
            <a:spLocks noGrp="1"/>
          </p:cNvSpPr>
          <p:nvPr/>
        </p:nvSpPr>
        <p:spPr>
          <a:xfrm>
            <a:off x="3276600" y="4857750"/>
            <a:ext cx="1104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model latency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4E59AD-B87A-443C-9D8B-3929A0DCE1B8}"/>
              </a:ext>
            </a:extLst>
          </p:cNvPr>
          <p:cNvSpPr>
            <a:spLocks noGrp="1"/>
          </p:cNvSpPr>
          <p:nvPr/>
        </p:nvSpPr>
        <p:spPr>
          <a:xfrm>
            <a:off x="876300" y="5353050"/>
            <a:ext cx="3238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17A65"/>
                </a:solidFill>
              </a:defRPr>
            </a:pPr>
            <a:r>
              <a:rPr sz="1200" b="1">
                <a:solidFill>
                  <a:srgbClr val="117A65"/>
                </a:solidFill>
              </a:rPr>
              <a:t>Manual score: overall_pass = True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6BA5F74-2716-4C4F-9D85-7A76D8043C41}"/>
              </a:ext>
            </a:extLst>
          </p:cNvPr>
          <p:cNvSpPr>
            <a:spLocks noGrp="1"/>
          </p:cNvSpPr>
          <p:nvPr/>
        </p:nvSpPr>
        <p:spPr>
          <a:xfrm>
            <a:off x="5143500" y="1752600"/>
            <a:ext cx="6134100" cy="41148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39" name="Picture 3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95900" y="2477927"/>
            <a:ext cx="5829300" cy="266414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4ABA4AF-69A0-4426-8EEF-9806F9ACBB38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10972800" cy="9525"/>
          </a:xfrm>
          <a:prstGeom prst="rect">
            <a:avLst/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B1B0C8-C29A-456E-820A-DE46DAC2EEC5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AI SalesGenie • Oak &amp; Ember Interiors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152D75-03D8-40E8-8474-D232AB6CFA7C}"/>
              </a:ext>
            </a:extLst>
          </p:cNvPr>
          <p:cNvSpPr>
            <a:spLocks noGrp="1"/>
          </p:cNvSpPr>
          <p:nvPr/>
        </p:nvSpPr>
        <p:spPr>
          <a:xfrm>
            <a:off x="11087100" y="6543675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36552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D521C6D-4209-40B4-AC27-99C4B941CBCD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17A65"/>
                </a:solidFill>
              </a:defRPr>
            </a:pPr>
            <a:r>
              <a:rPr sz="975" b="1">
                <a:solidFill>
                  <a:srgbClr val="117A65"/>
                </a:solidFill>
              </a:rPr>
              <a:t>WEEKLY INTELLIGENCE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BBEA64-B96D-47DB-A2E7-3892E9ED6878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10972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2263A"/>
                </a:solidFill>
              </a:defRPr>
            </a:pPr>
            <a:r>
              <a:rPr sz="2700" b="1">
                <a:solidFill>
                  <a:srgbClr val="12263A"/>
                </a:solidFill>
              </a:rPr>
              <a:t>Seven leads become a clear sales snapshot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219369-3DBA-420D-A2C5-6A0D953EECB8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aggregator provides management visibility without manually assembling a report.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CBEEB6-BC52-491A-A6A2-299F6CBFB11F}"/>
              </a:ext>
            </a:extLst>
          </p:cNvPr>
          <p:cNvSpPr>
            <a:spLocks noGrp="1"/>
          </p:cNvSpPr>
          <p:nvPr/>
        </p:nvSpPr>
        <p:spPr>
          <a:xfrm>
            <a:off x="609600" y="1752600"/>
            <a:ext cx="5410200" cy="409575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="819150" y="2114550"/>
          <a:ext cx="4953000" cy="3143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6DAC0BEC-827F-4628-9DA2-A1DB58ED207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2263A"/>
                </a:solidFill>
              </a:defRPr>
            </a:pPr>
            <a:r>
              <a:rPr sz="1500" b="1">
                <a:solidFill>
                  <a:srgbClr val="12263A"/>
                </a:solidFill>
              </a:rPr>
              <a:t>Lead tier distribution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5974D8-E61A-49EB-B579-7CFA9F95C0F1}"/>
              </a:ext>
            </a:extLst>
          </p:cNvPr>
          <p:cNvSpPr>
            <a:spLocks noGrp="1"/>
          </p:cNvSpPr>
          <p:nvPr/>
        </p:nvSpPr>
        <p:spPr>
          <a:xfrm>
            <a:off x="6362700" y="1752600"/>
            <a:ext cx="4914900" cy="1238250"/>
          </a:xfrm>
          <a:prstGeom prst="roundRect">
            <a:avLst>
              <a:gd name="adj" fmla="val 12308"/>
            </a:avLst>
          </a:prstGeom>
          <a:solidFill>
            <a:srgbClr val="12263A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09C72A-522F-4FC1-BB7F-78A2EE993736}"/>
              </a:ext>
            </a:extLst>
          </p:cNvPr>
          <p:cNvSpPr>
            <a:spLocks noGrp="1"/>
          </p:cNvSpPr>
          <p:nvPr/>
        </p:nvSpPr>
        <p:spPr>
          <a:xfrm>
            <a:off x="6705600" y="2000250"/>
            <a:ext cx="419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$18,960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A47709-DB10-4D56-A8BF-74D67F36AF56}"/>
              </a:ext>
            </a:extLst>
          </p:cNvPr>
          <p:cNvSpPr>
            <a:spLocks noGrp="1"/>
          </p:cNvSpPr>
          <p:nvPr/>
        </p:nvSpPr>
        <p:spPr>
          <a:xfrm>
            <a:off x="6705600" y="2514600"/>
            <a:ext cx="419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CDE0E8"/>
                </a:solidFill>
              </a:defRPr>
            </a:pPr>
            <a:r>
              <a:rPr sz="1125" b="0">
                <a:solidFill>
                  <a:srgbClr val="CDE0E8"/>
                </a:solidFill>
              </a:rPr>
              <a:t>average known budget • 5 known / 2 missing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9348999-4E9E-4D33-AF82-7F5E5DA38452}"/>
              </a:ext>
            </a:extLst>
          </p:cNvPr>
          <p:cNvSpPr>
            <a:spLocks noGrp="1"/>
          </p:cNvSpPr>
          <p:nvPr/>
        </p:nvSpPr>
        <p:spPr>
          <a:xfrm>
            <a:off x="6362700" y="3200400"/>
            <a:ext cx="49149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1FAAB6C-19FD-48C1-B9DC-1996E39CA0B6}"/>
              </a:ext>
            </a:extLst>
          </p:cNvPr>
          <p:cNvSpPr>
            <a:spLocks noGrp="1"/>
          </p:cNvSpPr>
          <p:nvPr/>
        </p:nvSpPr>
        <p:spPr>
          <a:xfrm>
            <a:off x="6362700" y="3200400"/>
            <a:ext cx="76200" cy="1181100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57F11E-9009-4CA6-906F-F18F2A38519E}"/>
              </a:ext>
            </a:extLst>
          </p:cNvPr>
          <p:cNvSpPr>
            <a:spLocks noGrp="1"/>
          </p:cNvSpPr>
          <p:nvPr/>
        </p:nvSpPr>
        <p:spPr>
          <a:xfrm>
            <a:off x="6610350" y="3429000"/>
            <a:ext cx="445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Top categories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884EAB-7C06-45CC-A4AB-D6BA1D7FD752}"/>
              </a:ext>
            </a:extLst>
          </p:cNvPr>
          <p:cNvSpPr>
            <a:spLocks noGrp="1"/>
          </p:cNvSpPr>
          <p:nvPr/>
        </p:nvSpPr>
        <p:spPr>
          <a:xfrm>
            <a:off x="6610350" y="3829050"/>
            <a:ext cx="4457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Desk • Full Office Package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293005E-6248-4DDA-8716-DEE594FAE9AC}"/>
              </a:ext>
            </a:extLst>
          </p:cNvPr>
          <p:cNvSpPr>
            <a:spLocks noGrp="1"/>
          </p:cNvSpPr>
          <p:nvPr/>
        </p:nvSpPr>
        <p:spPr>
          <a:xfrm>
            <a:off x="6362700" y="4591050"/>
            <a:ext cx="49149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27600E7-F2F5-4546-824E-488FE3FCC5CD}"/>
              </a:ext>
            </a:extLst>
          </p:cNvPr>
          <p:cNvSpPr>
            <a:spLocks noGrp="1"/>
          </p:cNvSpPr>
          <p:nvPr/>
        </p:nvSpPr>
        <p:spPr>
          <a:xfrm>
            <a:off x="6362700" y="4591050"/>
            <a:ext cx="76200" cy="1257300"/>
          </a:xfrm>
          <a:prstGeom prst="roundRect">
            <a:avLst>
              <a:gd name="adj" fmla="val 50000"/>
            </a:avLst>
          </a:prstGeom>
          <a:solidFill>
            <a:srgbClr val="3267A8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0A3468-7233-43CC-BF91-F11D3838BE64}"/>
              </a:ext>
            </a:extLst>
          </p:cNvPr>
          <p:cNvSpPr>
            <a:spLocks noGrp="1"/>
          </p:cNvSpPr>
          <p:nvPr/>
        </p:nvSpPr>
        <p:spPr>
          <a:xfrm>
            <a:off x="6610350" y="4819650"/>
            <a:ext cx="445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2263A"/>
                </a:solidFill>
              </a:defRPr>
            </a:pPr>
            <a:r>
              <a:rPr sz="1650" b="1">
                <a:solidFill>
                  <a:srgbClr val="12263A"/>
                </a:solidFill>
              </a:rPr>
              <a:t>Management value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61457C-763D-4E13-86DC-B7FC81867B23}"/>
              </a:ext>
            </a:extLst>
          </p:cNvPr>
          <p:cNvSpPr>
            <a:spLocks noGrp="1"/>
          </p:cNvSpPr>
          <p:nvPr/>
        </p:nvSpPr>
        <p:spPr>
          <a:xfrm>
            <a:off x="6610350" y="5219700"/>
            <a:ext cx="4457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Prioritize hot leads, identify category demand, and track missing budget data.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CCB56F-646A-4215-A815-08D804150FA6}"/>
              </a:ext>
            </a:extLst>
          </p:cNvPr>
          <p:cNvSpPr>
            <a:spLocks noGrp="1"/>
          </p:cNvSpPr>
          <p:nvPr/>
        </p:nvSpPr>
        <p:spPr>
          <a:xfrm>
            <a:off x="609600" y="6486525"/>
            <a:ext cx="10972800" cy="9525"/>
          </a:xfrm>
          <a:prstGeom prst="rect">
            <a:avLst/>
          </a:prstGeom>
          <a:solidFill>
            <a:srgbClr val="D8E1E7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FB448D-B7A0-484D-BC2F-DA504FBD106F}"/>
              </a:ext>
            </a:extLst>
          </p:cNvPr>
          <p:cNvSpPr>
            <a:spLocks noGrp="1"/>
          </p:cNvSpPr>
          <p:nvPr/>
        </p:nvSpPr>
        <p:spPr>
          <a:xfrm>
            <a:off x="609600" y="65436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AI SalesGenie • Oak &amp; Ember Interiors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C08154-6E4B-4858-823C-CC8BA26627D1}"/>
              </a:ext>
            </a:extLst>
          </p:cNvPr>
          <p:cNvSpPr>
            <a:spLocks noGrp="1"/>
          </p:cNvSpPr>
          <p:nvPr/>
        </p:nvSpPr>
        <p:spPr>
          <a:xfrm>
            <a:off x="11087100" y="6543675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73605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1DA7C79-BDA5-44FF-ACDB-E8D7C5DDA5E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8FD5C3"/>
                </a:solidFill>
              </a:defRPr>
            </a:pPr>
            <a:r>
              <a:rPr sz="975" b="1">
                <a:solidFill>
                  <a:srgbClr val="8FD5C3"/>
                </a:solidFill>
              </a:rPr>
              <a:t>FROM PROTOTYPE TO PILOT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11AB87-2C5A-431A-B220-03E2224B56DA}"/>
              </a:ext>
            </a:extLst>
          </p:cNvPr>
          <p:cNvSpPr>
            <a:spLocks noGrp="1"/>
          </p:cNvSpPr>
          <p:nvPr/>
        </p:nvSpPr>
        <p:spPr>
          <a:xfrm>
            <a:off x="609600" y="72390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A controlled rollout keeps quality visible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D64B3A-2358-4E97-B4C9-139EE1C2A3BD}"/>
              </a:ext>
            </a:extLst>
          </p:cNvPr>
          <p:cNvSpPr>
            <a:spLocks noGrp="1"/>
          </p:cNvSpPr>
          <p:nvPr/>
        </p:nvSpPr>
        <p:spPr>
          <a:xfrm>
            <a:off x="609600" y="1752600"/>
            <a:ext cx="3371850" cy="2628900"/>
          </a:xfrm>
          <a:prstGeom prst="roundRect">
            <a:avLst>
              <a:gd name="adj" fmla="val 5797"/>
            </a:avLst>
          </a:prstGeom>
          <a:solidFill>
            <a:srgbClr val="183A50"/>
          </a:solidFill>
          <a:ln w="9525">
            <a:solidFill>
              <a:srgbClr val="31566C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71916-DCEB-4B39-B26C-E5EA52ECB4DE}"/>
              </a:ext>
            </a:extLst>
          </p:cNvPr>
          <p:cNvSpPr>
            <a:spLocks noGrp="1"/>
          </p:cNvSpPr>
          <p:nvPr/>
        </p:nvSpPr>
        <p:spPr>
          <a:xfrm>
            <a:off x="876300" y="20002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8FD5C3"/>
                </a:solidFill>
              </a:defRPr>
            </a:pPr>
            <a:r>
              <a:rPr sz="1200" b="1">
                <a:solidFill>
                  <a:srgbClr val="8FD5C3"/>
                </a:solidFill>
              </a:rPr>
              <a:t>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66A1FB-568F-47A6-9136-50DCB910F7ED}"/>
              </a:ext>
            </a:extLst>
          </p:cNvPr>
          <p:cNvSpPr>
            <a:spLocks noGrp="1"/>
          </p:cNvSpPr>
          <p:nvPr/>
        </p:nvSpPr>
        <p:spPr>
          <a:xfrm>
            <a:off x="876300" y="24574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Pilot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8D5190-8159-4AF1-AE35-F31A432E25D0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3C866"/>
                </a:solidFill>
              </a:defRPr>
            </a:pPr>
            <a:r>
              <a:rPr sz="1350" b="1">
                <a:solidFill>
                  <a:srgbClr val="F3C866"/>
                </a:solidFill>
              </a:rPr>
              <a:t>3–5 sales representatives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634F9C-38E9-455A-AE6C-29D939E540B5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2762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CDE0E8"/>
                </a:solidFill>
              </a:defRPr>
            </a:pPr>
            <a:r>
              <a:rPr sz="1275" b="0">
                <a:solidFill>
                  <a:srgbClr val="CDE0E8"/>
                </a:solidFill>
              </a:rPr>
              <a:t>Validate outputs and collect corrections.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6631AB-60C4-4BC2-BC67-B58A39C82CB8}"/>
              </a:ext>
            </a:extLst>
          </p:cNvPr>
          <p:cNvSpPr>
            <a:spLocks noGrp="1"/>
          </p:cNvSpPr>
          <p:nvPr/>
        </p:nvSpPr>
        <p:spPr>
          <a:xfrm>
            <a:off x="4257675" y="1752600"/>
            <a:ext cx="3371850" cy="2628900"/>
          </a:xfrm>
          <a:prstGeom prst="roundRect">
            <a:avLst>
              <a:gd name="adj" fmla="val 5797"/>
            </a:avLst>
          </a:prstGeom>
          <a:solidFill>
            <a:srgbClr val="183A50"/>
          </a:solidFill>
          <a:ln w="9525">
            <a:solidFill>
              <a:srgbClr val="31566C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B7940B-8881-4752-AF87-F8E341A92D40}"/>
              </a:ext>
            </a:extLst>
          </p:cNvPr>
          <p:cNvSpPr>
            <a:spLocks noGrp="1"/>
          </p:cNvSpPr>
          <p:nvPr/>
        </p:nvSpPr>
        <p:spPr>
          <a:xfrm>
            <a:off x="4524375" y="20002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8FD5C3"/>
                </a:solidFill>
              </a:defRPr>
            </a:pPr>
            <a:r>
              <a:rPr sz="1200" b="1">
                <a:solidFill>
                  <a:srgbClr val="8FD5C3"/>
                </a:solidFill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A96643-EF7F-4107-93E9-B37A5E127E82}"/>
              </a:ext>
            </a:extLst>
          </p:cNvPr>
          <p:cNvSpPr>
            <a:spLocks noGrp="1"/>
          </p:cNvSpPr>
          <p:nvPr/>
        </p:nvSpPr>
        <p:spPr>
          <a:xfrm>
            <a:off x="4524375" y="24574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Tune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2DC33E-D841-45C9-B1AB-70CBC0A017BA}"/>
              </a:ext>
            </a:extLst>
          </p:cNvPr>
          <p:cNvSpPr>
            <a:spLocks noGrp="1"/>
          </p:cNvSpPr>
          <p:nvPr/>
        </p:nvSpPr>
        <p:spPr>
          <a:xfrm>
            <a:off x="4524375" y="29146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3C866"/>
                </a:solidFill>
              </a:defRPr>
            </a:pPr>
            <a:r>
              <a:rPr sz="1350" b="1">
                <a:solidFill>
                  <a:srgbClr val="F3C866"/>
                </a:solidFill>
              </a:rPr>
              <a:t>Prompt + guard rules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7DBE75-D349-40B5-A71F-BD8EE0301FFB}"/>
              </a:ext>
            </a:extLst>
          </p:cNvPr>
          <p:cNvSpPr>
            <a:spLocks noGrp="1"/>
          </p:cNvSpPr>
          <p:nvPr/>
        </p:nvSpPr>
        <p:spPr>
          <a:xfrm>
            <a:off x="4524375" y="3390900"/>
            <a:ext cx="2762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CDE0E8"/>
                </a:solidFill>
              </a:defRPr>
            </a:pPr>
            <a:r>
              <a:rPr sz="1275" b="0">
                <a:solidFill>
                  <a:srgbClr val="CDE0E8"/>
                </a:solidFill>
              </a:rPr>
              <a:t>Use trace scores and failure patterns.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290443B-947B-4BC5-B401-35AAE81C4FC8}"/>
              </a:ext>
            </a:extLst>
          </p:cNvPr>
          <p:cNvSpPr>
            <a:spLocks noGrp="1"/>
          </p:cNvSpPr>
          <p:nvPr/>
        </p:nvSpPr>
        <p:spPr>
          <a:xfrm>
            <a:off x="7905750" y="1752600"/>
            <a:ext cx="3371850" cy="2628900"/>
          </a:xfrm>
          <a:prstGeom prst="roundRect">
            <a:avLst>
              <a:gd name="adj" fmla="val 5797"/>
            </a:avLst>
          </a:prstGeom>
          <a:solidFill>
            <a:srgbClr val="183A50"/>
          </a:solidFill>
          <a:ln w="9525">
            <a:solidFill>
              <a:srgbClr val="31566C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47400E-9BEE-4468-B31B-3C294823A7BA}"/>
              </a:ext>
            </a:extLst>
          </p:cNvPr>
          <p:cNvSpPr>
            <a:spLocks noGrp="1"/>
          </p:cNvSpPr>
          <p:nvPr/>
        </p:nvSpPr>
        <p:spPr>
          <a:xfrm>
            <a:off x="8172450" y="20002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8FD5C3"/>
                </a:solidFill>
              </a:defRPr>
            </a:pPr>
            <a:r>
              <a:rPr sz="1200" b="1">
                <a:solidFill>
                  <a:srgbClr val="8FD5C3"/>
                </a:solidFill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0684E-BA08-4E65-8C75-40A12C7943FC}"/>
              </a:ext>
            </a:extLst>
          </p:cNvPr>
          <p:cNvSpPr>
            <a:spLocks noGrp="1"/>
          </p:cNvSpPr>
          <p:nvPr/>
        </p:nvSpPr>
        <p:spPr>
          <a:xfrm>
            <a:off x="8172450" y="24574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341CCE-8941-42C0-99FE-73B7F9599A99}"/>
              </a:ext>
            </a:extLst>
          </p:cNvPr>
          <p:cNvSpPr>
            <a:spLocks noGrp="1"/>
          </p:cNvSpPr>
          <p:nvPr/>
        </p:nvSpPr>
        <p:spPr>
          <a:xfrm>
            <a:off x="8172450" y="29146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3C866"/>
                </a:solidFill>
              </a:defRPr>
            </a:pPr>
            <a:r>
              <a:rPr sz="1350" b="1">
                <a:solidFill>
                  <a:srgbClr val="F3C866"/>
                </a:solidFill>
              </a:rPr>
              <a:t>Up to 20 users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001DE-40B9-432A-9D37-ED7785A2E1AC}"/>
              </a:ext>
            </a:extLst>
          </p:cNvPr>
          <p:cNvSpPr>
            <a:spLocks noGrp="1"/>
          </p:cNvSpPr>
          <p:nvPr/>
        </p:nvSpPr>
        <p:spPr>
          <a:xfrm>
            <a:off x="8172450" y="3390900"/>
            <a:ext cx="2762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CDE0E8"/>
                </a:solidFill>
              </a:defRPr>
            </a:pPr>
            <a:r>
              <a:rPr sz="1275" b="0">
                <a:solidFill>
                  <a:srgbClr val="CDE0E8"/>
                </a:solidFill>
              </a:rPr>
              <a:t>Monitor latency, cost, and adoption.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42B761B-87EC-4091-A73C-06CE2D5F6952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668000" cy="1123950"/>
          </a:xfrm>
          <a:prstGeom prst="roundRect">
            <a:avLst>
              <a:gd name="adj" fmla="val 13559"/>
            </a:avLst>
          </a:prstGeom>
          <a:solidFill>
            <a:srgbClr val="0D5F51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3ACDA3-EA1A-4814-8B6A-E3AE21611237}"/>
              </a:ext>
            </a:extLst>
          </p:cNvPr>
          <p:cNvSpPr>
            <a:spLocks noGrp="1"/>
          </p:cNvSpPr>
          <p:nvPr/>
        </p:nvSpPr>
        <p:spPr>
          <a:xfrm>
            <a:off x="895350" y="5000625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FE8DD"/>
                </a:solidFill>
              </a:defRPr>
            </a:pPr>
            <a:r>
              <a:rPr sz="1200" b="1">
                <a:solidFill>
                  <a:srgbClr val="BFE8DD"/>
                </a:solidFill>
              </a:rPr>
              <a:t>Submission evidence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BF2D90-7681-4A9D-9D7D-9F09A2157EF9}"/>
              </a:ext>
            </a:extLst>
          </p:cNvPr>
          <p:cNvSpPr>
            <a:spLocks noGrp="1"/>
          </p:cNvSpPr>
          <p:nvPr/>
        </p:nvSpPr>
        <p:spPr>
          <a:xfrm>
            <a:off x="895350" y="5334000"/>
            <a:ext cx="981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 exported Langflow flows  •  deterministic guard components  •  BRD + PRD  •  baseline test report  •  Langfuse screenshots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CC262E-6E4D-4C27-8586-31F1C1952629}"/>
              </a:ext>
            </a:extLst>
          </p:cNvPr>
          <p:cNvSpPr>
            <a:spLocks noGrp="1"/>
          </p:cNvSpPr>
          <p:nvPr/>
        </p:nvSpPr>
        <p:spPr>
          <a:xfrm>
            <a:off x="609600" y="638175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9FB4C2"/>
                </a:solidFill>
              </a:defRPr>
            </a:pPr>
            <a:r>
              <a:rPr sz="900" b="1">
                <a:solidFill>
                  <a:srgbClr val="9FB4C2"/>
                </a:solidFill>
              </a:rPr>
              <a:t>AI SalesGenie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6511F46-F53D-4513-ABFC-FB39896E21FC}"/>
              </a:ext>
            </a:extLst>
          </p:cNvPr>
          <p:cNvSpPr>
            <a:spLocks noGrp="1"/>
          </p:cNvSpPr>
          <p:nvPr/>
        </p:nvSpPr>
        <p:spPr>
          <a:xfrm>
            <a:off x="10782300" y="638175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9FB4C2"/>
                </a:solidFill>
              </a:defRPr>
            </a:pPr>
            <a:r>
              <a:rPr sz="825" b="1">
                <a:solidFill>
                  <a:srgbClr val="9FB4C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0922832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943</Words>
  <Application>Microsoft Office PowerPoint</Application>
  <DocSecurity>0</DocSecurity>
  <PresentationFormat>Widescreen</PresentationFormat>
  <Paragraphs>178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Prashanth Rasam</cp:lastModifiedBy>
  <cp:revision>1</cp:revision>
  <dcterms:created xsi:type="dcterms:W3CDTF">2026-09-04T04:08:25Z</dcterms:created>
  <dcterms:modified xsi:type="dcterms:W3CDTF">2026-09-04T04:13:44Z</dcterms:modified>
</cp:coreProperties>
</file>